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322" r:id="rId4"/>
    <p:sldId id="258" r:id="rId5"/>
    <p:sldId id="261" r:id="rId6"/>
    <p:sldId id="323" r:id="rId7"/>
    <p:sldId id="325" r:id="rId8"/>
    <p:sldId id="324" r:id="rId9"/>
    <p:sldId id="326" r:id="rId10"/>
    <p:sldId id="327" r:id="rId11"/>
    <p:sldId id="328" r:id="rId12"/>
    <p:sldId id="269" r:id="rId13"/>
  </p:sldIdLst>
  <p:sldSz cx="5759450" cy="3240088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Tahoma" panose="020B0604030504040204" pitchFamily="34" charset="0"/>
      <p:regular r:id="rId19"/>
      <p:bold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15" d="100"/>
          <a:sy n="215" d="100"/>
        </p:scale>
        <p:origin x="9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6199A-C6B5-4C0D-9123-4F4F5F6EE3F2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E8976F-40E0-4062-953D-AAA97DAD6C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583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8976F-40E0-4062-953D-AAA97DAD6C3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31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9969" y="1129030"/>
            <a:ext cx="2290068" cy="991316"/>
          </a:xfrm>
        </p:spPr>
        <p:txBody>
          <a:bodyPr>
            <a:normAutofit/>
          </a:bodyPr>
          <a:lstStyle>
            <a:lvl1pPr marL="0" indent="0">
              <a:buNone/>
              <a:defRPr sz="756"/>
            </a:lvl1pPr>
            <a:lvl2pPr marL="287990" indent="0">
              <a:buNone/>
              <a:defRPr/>
            </a:lvl2pPr>
            <a:lvl3pPr marL="575981" indent="0">
              <a:buNone/>
              <a:defRPr/>
            </a:lvl3pPr>
            <a:lvl4pPr marL="863971" indent="0">
              <a:buNone/>
              <a:defRPr/>
            </a:lvl4pPr>
            <a:lvl5pPr marL="1151961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756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9969" y="744877"/>
            <a:ext cx="1864964" cy="374867"/>
          </a:xfrm>
        </p:spPr>
        <p:txBody>
          <a:bodyPr>
            <a:normAutofit/>
          </a:bodyPr>
          <a:lstStyle>
            <a:lvl1pPr marL="0" indent="0">
              <a:buNone/>
              <a:defRPr sz="1008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72" y="193035"/>
            <a:ext cx="4298413" cy="332156"/>
          </a:xfrm>
        </p:spPr>
        <p:txBody>
          <a:bodyPr>
            <a:normAutofit/>
          </a:bodyPr>
          <a:lstStyle>
            <a:lvl1pPr>
              <a:defRPr sz="2016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49413" y="1897051"/>
            <a:ext cx="2290068" cy="991316"/>
          </a:xfrm>
        </p:spPr>
        <p:txBody>
          <a:bodyPr>
            <a:normAutofit/>
          </a:bodyPr>
          <a:lstStyle>
            <a:lvl1pPr marL="0" indent="0" algn="l">
              <a:buNone/>
              <a:defRPr sz="756"/>
            </a:lvl1pPr>
            <a:lvl2pPr marL="287990" indent="0">
              <a:buNone/>
              <a:defRPr/>
            </a:lvl2pPr>
            <a:lvl3pPr marL="575981" indent="0">
              <a:buNone/>
              <a:defRPr/>
            </a:lvl3pPr>
            <a:lvl4pPr marL="863971" indent="0">
              <a:buNone/>
              <a:defRPr/>
            </a:lvl4pPr>
            <a:lvl5pPr marL="1151961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28799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756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756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756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756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756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756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49414" y="1512897"/>
            <a:ext cx="1864964" cy="374867"/>
          </a:xfrm>
        </p:spPr>
        <p:txBody>
          <a:bodyPr>
            <a:normAutofit/>
          </a:bodyPr>
          <a:lstStyle>
            <a:lvl1pPr marL="0" indent="0">
              <a:buNone/>
              <a:defRPr sz="1008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749262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5759996" cy="3239999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" y="-83"/>
            <a:ext cx="5760281" cy="324015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144037A9-04A1-40FB-8AD7-608B90C0D0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108" y="293357"/>
            <a:ext cx="1373981" cy="541665"/>
          </a:xfrm>
          <a:prstGeom prst="rect">
            <a:avLst/>
          </a:prstGeom>
        </p:spPr>
      </p:pic>
      <p:sp>
        <p:nvSpPr>
          <p:cNvPr id="22" name="object 7">
            <a:extLst>
              <a:ext uri="{FF2B5EF4-FFF2-40B4-BE49-F238E27FC236}">
                <a16:creationId xmlns:a16="http://schemas.microsoft.com/office/drawing/2014/main" id="{6CCCD7CF-0226-43B3-A2FD-221CD34612B8}"/>
              </a:ext>
            </a:extLst>
          </p:cNvPr>
          <p:cNvSpPr txBox="1"/>
          <p:nvPr/>
        </p:nvSpPr>
        <p:spPr>
          <a:xfrm>
            <a:off x="745330" y="1077404"/>
            <a:ext cx="4269398" cy="66364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lang="ru-RU" sz="1400" dirty="0">
                <a:solidFill>
                  <a:srgbClr val="FFFFFF"/>
                </a:solidFill>
                <a:latin typeface="Tahoma"/>
                <a:cs typeface="Tahoma"/>
              </a:rPr>
              <a:t>Проектирование функциональной модели АИС управления бюджетом и разделения чеков для автоматизации совместных расходов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EC5B5CB7-F7C2-4EBC-A9CF-39B303B2BA3D}"/>
              </a:ext>
            </a:extLst>
          </p:cNvPr>
          <p:cNvSpPr txBox="1"/>
          <p:nvPr/>
        </p:nvSpPr>
        <p:spPr>
          <a:xfrm>
            <a:off x="2254237" y="2101950"/>
            <a:ext cx="1251585" cy="3629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ru-RU" sz="1100" spc="-20" dirty="0">
                <a:solidFill>
                  <a:srgbClr val="FFFFFF"/>
                </a:solidFill>
                <a:latin typeface="Tahoma"/>
                <a:cs typeface="Tahoma"/>
              </a:rPr>
              <a:t>Ким Артём</a:t>
            </a:r>
            <a:r>
              <a:rPr lang="en-US" sz="1100" spc="-20" dirty="0">
                <a:solidFill>
                  <a:srgbClr val="FFFFFF"/>
                </a:solidFill>
                <a:latin typeface="Tahoma"/>
                <a:cs typeface="Tahoma"/>
              </a:rPr>
              <a:t>,</a:t>
            </a:r>
            <a:endParaRPr lang="ru-RU" sz="1100" spc="-20" dirty="0">
              <a:solidFill>
                <a:srgbClr val="FFFFFF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ru-RU" sz="1100" spc="-20" dirty="0" err="1">
                <a:solidFill>
                  <a:srgbClr val="FFFFFF"/>
                </a:solidFill>
                <a:latin typeface="Tahoma"/>
                <a:cs typeface="Tahoma"/>
              </a:rPr>
              <a:t>Сандул</a:t>
            </a:r>
            <a:r>
              <a:rPr lang="ru-RU" sz="1100" spc="-20" dirty="0">
                <a:solidFill>
                  <a:srgbClr val="FFFFFF"/>
                </a:solidFill>
                <a:latin typeface="Tahoma"/>
                <a:cs typeface="Tahoma"/>
              </a:rPr>
              <a:t> Александр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5759996" cy="345059"/>
          </a:xfrm>
          <a:prstGeom prst="rect">
            <a:avLst/>
          </a:prstGeom>
          <a:solidFill>
            <a:srgbClr val="7E10FF"/>
          </a:solid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12440" y="44991"/>
            <a:ext cx="2213510" cy="255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lang="ru-RU"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Предметная область</a:t>
            </a:r>
            <a:endParaRPr lang="ru-RU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l"/>
            <a:endParaRPr lang="en-US" sz="1400" spc="-24" dirty="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E7F36032-B4E9-4CB6-BBCA-DC3FD2605270}"/>
              </a:ext>
            </a:extLst>
          </p:cNvPr>
          <p:cNvSpPr txBox="1"/>
          <p:nvPr/>
        </p:nvSpPr>
        <p:spPr>
          <a:xfrm>
            <a:off x="198437" y="765004"/>
            <a:ext cx="3842436" cy="945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0035" marR="365760" indent="-267970">
              <a:lnSpc>
                <a:spcPct val="106700"/>
              </a:lnSpc>
              <a:spcBef>
                <a:spcPts val="20"/>
              </a:spcBef>
            </a:pPr>
            <a:r>
              <a:rPr lang="ru-RU" sz="1100" dirty="0">
                <a:solidFill>
                  <a:schemeClr val="tx1"/>
                </a:solidFill>
                <a:latin typeface="Tahoma"/>
                <a:cs typeface="Tahoma"/>
              </a:rPr>
              <a:t>Роли пользователей:</a:t>
            </a:r>
          </a:p>
          <a:p>
            <a:pPr marL="280035" marR="365760" indent="-267970">
              <a:lnSpc>
                <a:spcPct val="106700"/>
              </a:lnSpc>
              <a:spcBef>
                <a:spcPts val="20"/>
              </a:spcBef>
            </a:pPr>
            <a:r>
              <a:rPr lang="ru-RU" sz="1100" dirty="0">
                <a:solidFill>
                  <a:schemeClr val="tx1"/>
                </a:solidFill>
                <a:latin typeface="Tahoma"/>
                <a:cs typeface="Tahoma"/>
              </a:rPr>
              <a:t>	- Пользователь</a:t>
            </a:r>
            <a:endParaRPr lang="en-US" sz="110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280035" marR="365760" indent="-267970">
              <a:lnSpc>
                <a:spcPct val="106700"/>
              </a:lnSpc>
              <a:spcBef>
                <a:spcPts val="20"/>
              </a:spcBef>
            </a:pPr>
            <a:r>
              <a:rPr lang="en-US" sz="1100" dirty="0">
                <a:solidFill>
                  <a:schemeClr val="tx1"/>
                </a:solidFill>
                <a:latin typeface="Tahoma"/>
                <a:cs typeface="Tahoma"/>
              </a:rPr>
              <a:t>	- </a:t>
            </a:r>
            <a:r>
              <a:rPr lang="ru-RU" sz="1100" dirty="0">
                <a:solidFill>
                  <a:schemeClr val="tx1"/>
                </a:solidFill>
                <a:latin typeface="Tahoma"/>
                <a:cs typeface="Tahoma"/>
              </a:rPr>
              <a:t>Участник совместной операции</a:t>
            </a:r>
          </a:p>
          <a:p>
            <a:pPr marL="280035" marR="365760" indent="-267970">
              <a:lnSpc>
                <a:spcPct val="106700"/>
              </a:lnSpc>
              <a:spcBef>
                <a:spcPts val="20"/>
              </a:spcBef>
            </a:pPr>
            <a:r>
              <a:rPr lang="ru-RU" sz="1100" dirty="0">
                <a:solidFill>
                  <a:schemeClr val="tx1"/>
                </a:solidFill>
                <a:latin typeface="Tahoma"/>
                <a:cs typeface="Tahoma"/>
              </a:rPr>
              <a:t>	- Админ</a:t>
            </a:r>
            <a:r>
              <a:rPr lang="en-US" sz="1100" dirty="0">
                <a:solidFill>
                  <a:schemeClr val="tx1"/>
                </a:solidFill>
                <a:latin typeface="Tahoma"/>
                <a:cs typeface="Tahoma"/>
              </a:rPr>
              <a:t>/</a:t>
            </a:r>
            <a:r>
              <a:rPr lang="ru-RU" sz="1100" dirty="0">
                <a:solidFill>
                  <a:schemeClr val="tx1"/>
                </a:solidFill>
                <a:latin typeface="Tahoma"/>
                <a:cs typeface="Tahoma"/>
              </a:rPr>
              <a:t>система</a:t>
            </a:r>
            <a:endParaRPr lang="en-US" sz="110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280035" marR="365760" indent="-267970">
              <a:lnSpc>
                <a:spcPct val="106700"/>
              </a:lnSpc>
              <a:spcBef>
                <a:spcPts val="20"/>
              </a:spcBef>
            </a:pPr>
            <a:endParaRPr lang="en-US" sz="1400" dirty="0">
              <a:solidFill>
                <a:schemeClr val="tx1"/>
              </a:solidFill>
              <a:latin typeface="Tahoma"/>
              <a:cs typeface="Tahoma"/>
            </a:endParaRPr>
          </a:p>
        </p:txBody>
      </p:sp>
      <p:sp>
        <p:nvSpPr>
          <p:cNvPr id="22" name="object 3">
            <a:extLst>
              <a:ext uri="{FF2B5EF4-FFF2-40B4-BE49-F238E27FC236}">
                <a16:creationId xmlns:a16="http://schemas.microsoft.com/office/drawing/2014/main" id="{B631635C-2A74-4DA1-8ADE-4D1AEABF508F}"/>
              </a:ext>
            </a:extLst>
          </p:cNvPr>
          <p:cNvSpPr txBox="1"/>
          <p:nvPr/>
        </p:nvSpPr>
        <p:spPr>
          <a:xfrm>
            <a:off x="195262" y="2185815"/>
            <a:ext cx="4979670" cy="52828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ru-RU" sz="1100" spc="-45" dirty="0">
                <a:latin typeface="Tahoma"/>
                <a:cs typeface="Tahoma"/>
              </a:rPr>
              <a:t>Схема работы с совместным чеком</a:t>
            </a:r>
            <a:r>
              <a:rPr lang="en-US" sz="1100" spc="-45" dirty="0">
                <a:latin typeface="Tahoma"/>
                <a:cs typeface="Tahoma"/>
              </a:rPr>
              <a:t>:</a:t>
            </a:r>
          </a:p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ru-RU" sz="1100" dirty="0">
                <a:latin typeface="Tahoma"/>
                <a:cs typeface="Tahoma"/>
              </a:rPr>
              <a:t>Регистрация </a:t>
            </a:r>
            <a:r>
              <a:rPr lang="en-US" sz="1100" dirty="0">
                <a:latin typeface="Tahoma"/>
                <a:cs typeface="Tahoma"/>
              </a:rPr>
              <a:t>-&gt; </a:t>
            </a:r>
            <a:r>
              <a:rPr lang="ru-RU" sz="1100" dirty="0">
                <a:latin typeface="Tahoma"/>
                <a:cs typeface="Tahoma"/>
              </a:rPr>
              <a:t>Разделение чека</a:t>
            </a:r>
            <a:r>
              <a:rPr lang="en-US" sz="1100" dirty="0">
                <a:latin typeface="Tahoma"/>
                <a:cs typeface="Tahoma"/>
              </a:rPr>
              <a:t> -&gt; </a:t>
            </a:r>
            <a:r>
              <a:rPr lang="ru-RU" sz="1100" dirty="0">
                <a:latin typeface="Tahoma"/>
                <a:cs typeface="Tahoma"/>
              </a:rPr>
              <a:t>Запрос на перевод</a:t>
            </a:r>
            <a:r>
              <a:rPr lang="en-US" sz="1100" dirty="0">
                <a:latin typeface="Tahoma"/>
                <a:cs typeface="Tahoma"/>
              </a:rPr>
              <a:t> -&gt; </a:t>
            </a:r>
            <a:r>
              <a:rPr lang="ru-RU" sz="1100" dirty="0">
                <a:latin typeface="Tahoma"/>
                <a:cs typeface="Tahoma"/>
              </a:rPr>
              <a:t>Обновление балансов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23" name="Picture 4" descr="Что означает мем Stonks?» — Яндекс Кью">
            <a:extLst>
              <a:ext uri="{FF2B5EF4-FFF2-40B4-BE49-F238E27FC236}">
                <a16:creationId xmlns:a16="http://schemas.microsoft.com/office/drawing/2014/main" id="{8E1B15F2-74FA-4BF7-92CB-C2CED5617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8700" y="765004"/>
            <a:ext cx="1139868" cy="855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59C3AC6-6CD1-C215-A3EB-1B669F1857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Спроектировать функциональную модель АИС управления бюджетом и разделения чеков</a:t>
            </a:r>
            <a:endParaRPr lang="en-US"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A005B5-E37E-D5F7-C74B-2628D4CDB8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050" u="none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Цель</a:t>
            </a:r>
            <a:r>
              <a:rPr lang="en-US" sz="1050" u="none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683ECEF-C126-4F4F-2B77-7FC63C7D7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47" y="101305"/>
            <a:ext cx="4298413" cy="332156"/>
          </a:xfrm>
        </p:spPr>
        <p:txBody>
          <a:bodyPr>
            <a:normAutofit/>
          </a:bodyPr>
          <a:lstStyle/>
          <a:p>
            <a:r>
              <a:rPr lang="ru-RU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Цель и задачи проекта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07358EA-8600-ADBA-52DF-6AC12A92CA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en-US" sz="80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</a:t>
            </a:r>
            <a:r>
              <a:rPr lang="ru-RU" sz="80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Определить назначение ИС</a:t>
            </a:r>
            <a:endParaRPr lang="en-US" sz="800" spc="-45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en-US" sz="80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ru-RU" sz="80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Выделить основной процесс и внешние сущности</a:t>
            </a:r>
            <a:endParaRPr lang="en-US" sz="800" spc="-45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en-US" sz="80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ru-RU" sz="80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Выделить потоки данных внешних сущностей</a:t>
            </a:r>
            <a:endParaRPr lang="en-US" sz="800" spc="-45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en-US" sz="80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  <a:r>
              <a:rPr lang="ru-RU" sz="80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Построить контекстную диаграмму </a:t>
            </a:r>
            <a:r>
              <a:rPr lang="en-US" sz="80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A-0</a:t>
            </a:r>
          </a:p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en-US" sz="80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5. </a:t>
            </a:r>
            <a:r>
              <a:rPr lang="ru-RU" sz="80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Построить детализированную диаграмму </a:t>
            </a:r>
            <a:r>
              <a:rPr lang="en-US" sz="80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A0</a:t>
            </a:r>
          </a:p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en-US" sz="80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</a:t>
            </a:r>
            <a:r>
              <a:rPr lang="ru-RU" sz="80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Детализировать процесс</a:t>
            </a:r>
            <a:endParaRPr lang="en-US" sz="800" spc="-45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6774C3B-FC5A-185E-8092-889B7F24F4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50" u="none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Задачи</a:t>
            </a:r>
            <a:r>
              <a:rPr lang="en-US" sz="1050" u="none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043540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5759996" cy="345059"/>
          </a:xfrm>
          <a:prstGeom prst="rect">
            <a:avLst/>
          </a:prstGeom>
          <a:solidFill>
            <a:srgbClr val="7E10FF"/>
          </a:solidFill>
        </p:spPr>
        <p:txBody>
          <a:bodyPr/>
          <a:lstStyle/>
          <a:p>
            <a:endParaRPr dirty="0"/>
          </a:p>
        </p:txBody>
      </p:sp>
      <p:sp>
        <p:nvSpPr>
          <p:cNvPr id="25" name="TextBox 4">
            <a:extLst>
              <a:ext uri="{FF2B5EF4-FFF2-40B4-BE49-F238E27FC236}">
                <a16:creationId xmlns:a16="http://schemas.microsoft.com/office/drawing/2014/main" id="{CC9BAAC0-157D-433D-9B10-4E458BC5E33A}"/>
              </a:ext>
            </a:extLst>
          </p:cNvPr>
          <p:cNvSpPr txBox="1"/>
          <p:nvPr/>
        </p:nvSpPr>
        <p:spPr>
          <a:xfrm>
            <a:off x="112440" y="44991"/>
            <a:ext cx="2213510" cy="255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lang="ru-RU" sz="1400" b="1" spc="-2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Методы и средства проекта</a:t>
            </a:r>
            <a:endParaRPr lang="en-US" sz="1400" b="1" spc="-24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object 3">
            <a:extLst>
              <a:ext uri="{FF2B5EF4-FFF2-40B4-BE49-F238E27FC236}">
                <a16:creationId xmlns:a16="http://schemas.microsoft.com/office/drawing/2014/main" id="{1D1C34AE-2FA3-4678-B877-BC2D4A26C5FA}"/>
              </a:ext>
            </a:extLst>
          </p:cNvPr>
          <p:cNvSpPr txBox="1"/>
          <p:nvPr/>
        </p:nvSpPr>
        <p:spPr>
          <a:xfrm>
            <a:off x="215531" y="788470"/>
            <a:ext cx="2916606" cy="710772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280035" marR="365760" indent="-267970">
              <a:lnSpc>
                <a:spcPct val="106700"/>
              </a:lnSpc>
              <a:spcBef>
                <a:spcPts val="20"/>
              </a:spcBef>
            </a:pPr>
            <a:r>
              <a:rPr lang="ru-RU" sz="1100" dirty="0">
                <a:solidFill>
                  <a:schemeClr val="tx1"/>
                </a:solidFill>
                <a:latin typeface="Tahoma"/>
                <a:cs typeface="Tahoma"/>
              </a:rPr>
              <a:t>Методология</a:t>
            </a:r>
            <a:r>
              <a:rPr lang="en-US" sz="1100" dirty="0">
                <a:solidFill>
                  <a:schemeClr val="tx1"/>
                </a:solidFill>
                <a:latin typeface="Tahoma"/>
                <a:cs typeface="Tahoma"/>
              </a:rPr>
              <a:t>:</a:t>
            </a:r>
            <a:endParaRPr lang="ru-RU" sz="110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280035" marR="365760" indent="-267970">
              <a:lnSpc>
                <a:spcPct val="106700"/>
              </a:lnSpc>
              <a:spcBef>
                <a:spcPts val="20"/>
              </a:spcBef>
            </a:pPr>
            <a:r>
              <a:rPr lang="ru-RU" sz="1100" dirty="0">
                <a:solidFill>
                  <a:schemeClr val="tx1"/>
                </a:solidFill>
                <a:latin typeface="Tahoma"/>
                <a:cs typeface="Tahoma"/>
              </a:rPr>
              <a:t>	- </a:t>
            </a:r>
            <a:r>
              <a:rPr lang="en-US" sz="1100" dirty="0">
                <a:solidFill>
                  <a:schemeClr val="tx1"/>
                </a:solidFill>
                <a:latin typeface="Tahoma"/>
                <a:cs typeface="Tahoma"/>
              </a:rPr>
              <a:t>DFD(Data Flow Diagram)</a:t>
            </a:r>
          </a:p>
          <a:p>
            <a:pPr marL="280035" marR="365760" indent="-267970">
              <a:lnSpc>
                <a:spcPct val="106700"/>
              </a:lnSpc>
              <a:spcBef>
                <a:spcPts val="20"/>
              </a:spcBef>
            </a:pPr>
            <a:r>
              <a:rPr lang="en-US" sz="1100" dirty="0">
                <a:solidFill>
                  <a:schemeClr val="tx1"/>
                </a:solidFill>
                <a:latin typeface="Tahoma"/>
                <a:cs typeface="Tahoma"/>
              </a:rPr>
              <a:t>	- </a:t>
            </a:r>
            <a:r>
              <a:rPr lang="ru-RU" sz="1100" dirty="0">
                <a:solidFill>
                  <a:schemeClr val="tx1"/>
                </a:solidFill>
                <a:latin typeface="Tahoma"/>
                <a:cs typeface="Tahoma"/>
              </a:rPr>
              <a:t>Иерархия</a:t>
            </a:r>
            <a:r>
              <a:rPr lang="en-US" sz="1100" dirty="0">
                <a:solidFill>
                  <a:schemeClr val="tx1"/>
                </a:solidFill>
                <a:latin typeface="Tahoma"/>
                <a:cs typeface="Tahoma"/>
              </a:rPr>
              <a:t> A-0 -&gt; A0 -&gt; A1</a:t>
            </a:r>
          </a:p>
          <a:p>
            <a:pPr marL="280035" marR="365760" indent="-267970">
              <a:lnSpc>
                <a:spcPct val="106700"/>
              </a:lnSpc>
              <a:spcBef>
                <a:spcPts val="20"/>
              </a:spcBef>
            </a:pPr>
            <a:endParaRPr sz="1100" dirty="0">
              <a:solidFill>
                <a:schemeClr val="tx1"/>
              </a:solidFill>
              <a:latin typeface="Tahoma"/>
              <a:cs typeface="Tahoma"/>
            </a:endParaRPr>
          </a:p>
        </p:txBody>
      </p:sp>
      <p:sp>
        <p:nvSpPr>
          <p:cNvPr id="27" name="object 3">
            <a:extLst>
              <a:ext uri="{FF2B5EF4-FFF2-40B4-BE49-F238E27FC236}">
                <a16:creationId xmlns:a16="http://schemas.microsoft.com/office/drawing/2014/main" id="{F2E6750C-9A9B-444C-8BEB-B71D3A2F8C84}"/>
              </a:ext>
            </a:extLst>
          </p:cNvPr>
          <p:cNvSpPr txBox="1"/>
          <p:nvPr/>
        </p:nvSpPr>
        <p:spPr>
          <a:xfrm>
            <a:off x="215531" y="2155825"/>
            <a:ext cx="5334000" cy="891911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280035" marR="365760" indent="-267970">
              <a:lnSpc>
                <a:spcPct val="106700"/>
              </a:lnSpc>
              <a:spcBef>
                <a:spcPts val="20"/>
              </a:spcBef>
            </a:pPr>
            <a:r>
              <a:rPr lang="ru-RU" sz="1100" dirty="0">
                <a:solidFill>
                  <a:schemeClr val="tx1"/>
                </a:solidFill>
                <a:latin typeface="Tahoma"/>
                <a:cs typeface="Tahoma"/>
              </a:rPr>
              <a:t>Правила</a:t>
            </a:r>
            <a:r>
              <a:rPr lang="en-US" sz="1100" dirty="0">
                <a:solidFill>
                  <a:schemeClr val="tx1"/>
                </a:solidFill>
                <a:latin typeface="Tahoma"/>
                <a:cs typeface="Tahoma"/>
              </a:rPr>
              <a:t> DFD: </a:t>
            </a:r>
            <a:endParaRPr lang="ru-RU" sz="110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280035" marR="365760" indent="-267970">
              <a:lnSpc>
                <a:spcPct val="106700"/>
              </a:lnSpc>
              <a:spcBef>
                <a:spcPts val="20"/>
              </a:spcBef>
            </a:pPr>
            <a:r>
              <a:rPr lang="ru-RU" sz="1100" dirty="0">
                <a:solidFill>
                  <a:schemeClr val="tx1"/>
                </a:solidFill>
                <a:latin typeface="Tahoma"/>
                <a:cs typeface="Tahoma"/>
              </a:rPr>
              <a:t>	- </a:t>
            </a:r>
            <a:r>
              <a:rPr lang="en-US" sz="1100" dirty="0">
                <a:solidFill>
                  <a:schemeClr val="tx1"/>
                </a:solidFill>
                <a:latin typeface="Tahoma"/>
                <a:cs typeface="Tahoma"/>
              </a:rPr>
              <a:t>2-6 </a:t>
            </a:r>
            <a:r>
              <a:rPr lang="ru-RU" sz="1100" dirty="0">
                <a:solidFill>
                  <a:schemeClr val="tx1"/>
                </a:solidFill>
                <a:latin typeface="Tahoma"/>
                <a:cs typeface="Tahoma"/>
              </a:rPr>
              <a:t>процессов на диаграмму</a:t>
            </a:r>
          </a:p>
          <a:p>
            <a:pPr marL="280035" marR="365760" indent="-267970">
              <a:lnSpc>
                <a:spcPct val="106700"/>
              </a:lnSpc>
              <a:spcBef>
                <a:spcPts val="20"/>
              </a:spcBef>
            </a:pPr>
            <a:r>
              <a:rPr lang="ru-RU" sz="1100" dirty="0">
                <a:solidFill>
                  <a:schemeClr val="tx1"/>
                </a:solidFill>
                <a:latin typeface="Tahoma"/>
                <a:cs typeface="Tahoma"/>
              </a:rPr>
              <a:t>	- нет связей между внешними сущностями</a:t>
            </a:r>
          </a:p>
          <a:p>
            <a:pPr marL="280035" marR="365760" indent="-267970">
              <a:lnSpc>
                <a:spcPct val="106700"/>
              </a:lnSpc>
              <a:spcBef>
                <a:spcPts val="20"/>
              </a:spcBef>
            </a:pPr>
            <a:r>
              <a:rPr lang="ru-RU" sz="1100" dirty="0">
                <a:solidFill>
                  <a:schemeClr val="tx1"/>
                </a:solidFill>
                <a:latin typeface="Tahoma"/>
                <a:cs typeface="Tahoma"/>
              </a:rPr>
              <a:t>	- у накопителя есть вход и выход</a:t>
            </a:r>
            <a:endParaRPr lang="en-US" sz="110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280035" marR="365760" indent="-267970">
              <a:lnSpc>
                <a:spcPct val="106700"/>
              </a:lnSpc>
              <a:spcBef>
                <a:spcPts val="20"/>
              </a:spcBef>
            </a:pPr>
            <a:endParaRPr sz="1100" dirty="0">
              <a:solidFill>
                <a:schemeClr val="tx1"/>
              </a:solidFill>
              <a:latin typeface="Tahoma"/>
              <a:cs typeface="Tahoma"/>
            </a:endParaRPr>
          </a:p>
        </p:txBody>
      </p:sp>
      <p:sp>
        <p:nvSpPr>
          <p:cNvPr id="28" name="object 3">
            <a:extLst>
              <a:ext uri="{FF2B5EF4-FFF2-40B4-BE49-F238E27FC236}">
                <a16:creationId xmlns:a16="http://schemas.microsoft.com/office/drawing/2014/main" id="{78FFE72C-7D4E-4333-B909-FD29C5437308}"/>
              </a:ext>
            </a:extLst>
          </p:cNvPr>
          <p:cNvSpPr txBox="1"/>
          <p:nvPr/>
        </p:nvSpPr>
        <p:spPr>
          <a:xfrm>
            <a:off x="3719512" y="788470"/>
            <a:ext cx="2136775" cy="529632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280035" marR="365760" indent="-267970">
              <a:lnSpc>
                <a:spcPct val="106700"/>
              </a:lnSpc>
              <a:spcBef>
                <a:spcPts val="20"/>
              </a:spcBef>
            </a:pPr>
            <a:r>
              <a:rPr lang="ru-RU" sz="1100" dirty="0">
                <a:solidFill>
                  <a:schemeClr val="tx1"/>
                </a:solidFill>
                <a:latin typeface="Tahoma"/>
                <a:cs typeface="Tahoma"/>
              </a:rPr>
              <a:t>Средство</a:t>
            </a:r>
            <a:r>
              <a:rPr lang="en-US" sz="1100" dirty="0">
                <a:solidFill>
                  <a:schemeClr val="tx1"/>
                </a:solidFill>
                <a:latin typeface="Tahoma"/>
                <a:cs typeface="Tahoma"/>
              </a:rPr>
              <a:t>:</a:t>
            </a:r>
            <a:endParaRPr lang="ru-RU" sz="110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280035" marR="365760" indent="-267970">
              <a:lnSpc>
                <a:spcPct val="106700"/>
              </a:lnSpc>
              <a:spcBef>
                <a:spcPts val="20"/>
              </a:spcBef>
            </a:pPr>
            <a:r>
              <a:rPr lang="ru-RU" sz="1100" dirty="0">
                <a:solidFill>
                  <a:schemeClr val="tx1"/>
                </a:solidFill>
                <a:latin typeface="Tahoma"/>
                <a:cs typeface="Tahoma"/>
              </a:rPr>
              <a:t>	- </a:t>
            </a:r>
            <a:r>
              <a:rPr lang="en-US" sz="1100" dirty="0">
                <a:solidFill>
                  <a:schemeClr val="tx1"/>
                </a:solidFill>
                <a:latin typeface="Tahoma"/>
                <a:cs typeface="Tahoma"/>
              </a:rPr>
              <a:t>draw.io</a:t>
            </a:r>
          </a:p>
          <a:p>
            <a:pPr marL="280035" marR="365760" indent="-267970">
              <a:lnSpc>
                <a:spcPct val="106700"/>
              </a:lnSpc>
              <a:spcBef>
                <a:spcPts val="20"/>
              </a:spcBef>
            </a:pPr>
            <a:r>
              <a:rPr lang="en-US" sz="1100" dirty="0">
                <a:latin typeface="Tahoma"/>
                <a:cs typeface="Tahoma"/>
              </a:rPr>
              <a:t>	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29" name="Picture 2" descr="draw.io Diagrams — бесплатно скачайте и установите в Windows | Microsoft  Store">
            <a:extLst>
              <a:ext uri="{FF2B5EF4-FFF2-40B4-BE49-F238E27FC236}">
                <a16:creationId xmlns:a16="http://schemas.microsoft.com/office/drawing/2014/main" id="{2BC25FE2-6959-42C1-8181-026D1569E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787899" y="90088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5759996" cy="345059"/>
          </a:xfrm>
          <a:prstGeom prst="rect">
            <a:avLst/>
          </a:prstGeom>
          <a:solidFill>
            <a:srgbClr val="7E10FF"/>
          </a:solidFill>
        </p:spPr>
        <p:txBody>
          <a:bodyPr/>
          <a:lstStyle/>
          <a:p>
            <a:endParaRPr/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4AED2280-F481-49EE-B574-E83C1CB0AD7D}"/>
              </a:ext>
            </a:extLst>
          </p:cNvPr>
          <p:cNvSpPr txBox="1"/>
          <p:nvPr/>
        </p:nvSpPr>
        <p:spPr>
          <a:xfrm>
            <a:off x="112439" y="44991"/>
            <a:ext cx="4645991" cy="255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lang="ru-RU" sz="1400" b="1" spc="-2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Этап 1. Назначение ИС</a:t>
            </a:r>
            <a:endParaRPr lang="en-US" sz="1400" b="1" spc="-24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object 3">
            <a:extLst>
              <a:ext uri="{FF2B5EF4-FFF2-40B4-BE49-F238E27FC236}">
                <a16:creationId xmlns:a16="http://schemas.microsoft.com/office/drawing/2014/main" id="{F1AFC987-475E-489E-9D0B-84FD05B5DE8B}"/>
              </a:ext>
            </a:extLst>
          </p:cNvPr>
          <p:cNvSpPr txBox="1"/>
          <p:nvPr/>
        </p:nvSpPr>
        <p:spPr>
          <a:xfrm>
            <a:off x="215900" y="684402"/>
            <a:ext cx="4979670" cy="71545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ru-RU" sz="1100" spc="-45" dirty="0">
                <a:latin typeface="Tahoma"/>
                <a:cs typeface="Tahoma"/>
              </a:rPr>
              <a:t>Назначение</a:t>
            </a:r>
            <a:r>
              <a:rPr lang="en-US" sz="1100" spc="-45" dirty="0">
                <a:latin typeface="Tahoma"/>
                <a:cs typeface="Tahoma"/>
              </a:rPr>
              <a:t>:</a:t>
            </a:r>
          </a:p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ru-RU" sz="1100" spc="-45" dirty="0">
                <a:latin typeface="Tahoma"/>
                <a:cs typeface="Tahoma"/>
              </a:rPr>
              <a:t>Автоматизировать управление личными и совместными расходами</a:t>
            </a:r>
            <a:r>
              <a:rPr lang="en-US" sz="1100" spc="-45" dirty="0">
                <a:latin typeface="Tahoma"/>
                <a:cs typeface="Tahoma"/>
              </a:rPr>
              <a:t>:</a:t>
            </a:r>
            <a:r>
              <a:rPr lang="ru-RU" sz="1100" spc="-45" dirty="0">
                <a:latin typeface="Tahoma"/>
                <a:cs typeface="Tahoma"/>
              </a:rPr>
              <a:t> от регистрации операции до расчёта задолженностей и обновления балансов</a:t>
            </a:r>
            <a:endParaRPr lang="en-US" sz="1100" spc="-45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55"/>
              </a:spcBef>
            </a:pPr>
            <a:endParaRPr sz="1100" dirty="0">
              <a:latin typeface="Tahoma"/>
              <a:cs typeface="Tahoma"/>
            </a:endParaRPr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D050FD0F-A580-4B6E-9D65-1F0638D58FBB}"/>
              </a:ext>
            </a:extLst>
          </p:cNvPr>
          <p:cNvSpPr txBox="1"/>
          <p:nvPr/>
        </p:nvSpPr>
        <p:spPr>
          <a:xfrm>
            <a:off x="215900" y="1620368"/>
            <a:ext cx="4979670" cy="72827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150" marR="5080" indent="-171450">
              <a:lnSpc>
                <a:spcPct val="102600"/>
              </a:lnSpc>
              <a:spcBef>
                <a:spcPts val="55"/>
              </a:spcBef>
              <a:buFontTx/>
              <a:buChar char="-"/>
            </a:pPr>
            <a:r>
              <a:rPr lang="ru-RU" sz="1100" spc="-45" dirty="0">
                <a:latin typeface="Tahoma"/>
                <a:cs typeface="Tahoma"/>
              </a:rPr>
              <a:t>Учёт операций и совместных чеков </a:t>
            </a:r>
          </a:p>
          <a:p>
            <a:pPr marL="184150" marR="5080" indent="-171450">
              <a:lnSpc>
                <a:spcPct val="102600"/>
              </a:lnSpc>
              <a:spcBef>
                <a:spcPts val="55"/>
              </a:spcBef>
              <a:buFontTx/>
              <a:buChar char="-"/>
            </a:pPr>
            <a:r>
              <a:rPr lang="ru-RU" sz="1100" spc="-45" dirty="0">
                <a:latin typeface="Tahoma"/>
                <a:cs typeface="Tahoma"/>
              </a:rPr>
              <a:t>Разделение чеков и расчёт задолженностей </a:t>
            </a:r>
          </a:p>
          <a:p>
            <a:pPr marL="184150" marR="5080" indent="-171450">
              <a:lnSpc>
                <a:spcPct val="102600"/>
              </a:lnSpc>
              <a:spcBef>
                <a:spcPts val="55"/>
              </a:spcBef>
              <a:buFontTx/>
              <a:buChar char="-"/>
            </a:pPr>
            <a:r>
              <a:rPr lang="ru-RU" sz="1100" spc="-45" dirty="0">
                <a:latin typeface="Tahoma"/>
                <a:cs typeface="Tahoma"/>
              </a:rPr>
              <a:t>Формирование о обработка запросов на перевод</a:t>
            </a:r>
          </a:p>
          <a:p>
            <a:pPr marL="184150" marR="5080" indent="-171450">
              <a:lnSpc>
                <a:spcPct val="102600"/>
              </a:lnSpc>
              <a:spcBef>
                <a:spcPts val="55"/>
              </a:spcBef>
              <a:buFontTx/>
              <a:buChar char="-"/>
            </a:pPr>
            <a:r>
              <a:rPr lang="ru-RU" sz="1100" spc="-45" dirty="0">
                <a:latin typeface="Tahoma"/>
                <a:cs typeface="Tahoma"/>
              </a:rPr>
              <a:t>Планирование бюджета и отчётность по категориям</a:t>
            </a:r>
            <a:endParaRPr lang="en-US" sz="1100" spc="-45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5759996" cy="345059"/>
          </a:xfrm>
          <a:prstGeom prst="rect">
            <a:avLst/>
          </a:prstGeom>
          <a:solidFill>
            <a:srgbClr val="7E10FF"/>
          </a:solidFill>
        </p:spPr>
        <p:txBody>
          <a:bodyPr/>
          <a:lstStyle/>
          <a:p>
            <a:endParaRPr/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4AED2280-F481-49EE-B574-E83C1CB0AD7D}"/>
              </a:ext>
            </a:extLst>
          </p:cNvPr>
          <p:cNvSpPr txBox="1"/>
          <p:nvPr/>
        </p:nvSpPr>
        <p:spPr>
          <a:xfrm>
            <a:off x="112439" y="44991"/>
            <a:ext cx="4645991" cy="255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lang="ru-RU" sz="1400" b="1" spc="-2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Этап 2-3. Внешние сущности и потоки</a:t>
            </a:r>
            <a:endParaRPr lang="en-US" sz="1400" b="1" spc="-24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object 3">
            <a:extLst>
              <a:ext uri="{FF2B5EF4-FFF2-40B4-BE49-F238E27FC236}">
                <a16:creationId xmlns:a16="http://schemas.microsoft.com/office/drawing/2014/main" id="{F1AFC987-475E-489E-9D0B-84FD05B5DE8B}"/>
              </a:ext>
            </a:extLst>
          </p:cNvPr>
          <p:cNvSpPr txBox="1"/>
          <p:nvPr/>
        </p:nvSpPr>
        <p:spPr>
          <a:xfrm>
            <a:off x="215900" y="684402"/>
            <a:ext cx="4979670" cy="16677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ru-RU" sz="1100" spc="-45" dirty="0">
                <a:latin typeface="Tahoma"/>
                <a:cs typeface="Tahoma"/>
              </a:rPr>
              <a:t>Основной процесс</a:t>
            </a:r>
            <a:r>
              <a:rPr lang="en-US" sz="1100" spc="-45" dirty="0">
                <a:latin typeface="Tahoma"/>
                <a:cs typeface="Tahoma"/>
              </a:rPr>
              <a:t>:</a:t>
            </a:r>
            <a:r>
              <a:rPr lang="ru-RU" sz="1100" spc="-45" dirty="0">
                <a:latin typeface="Tahoma"/>
                <a:cs typeface="Tahoma"/>
              </a:rPr>
              <a:t> </a:t>
            </a:r>
            <a:r>
              <a:rPr lang="en-US" sz="1100" spc="-45" dirty="0">
                <a:latin typeface="Tahoma"/>
                <a:cs typeface="Tahoma"/>
              </a:rPr>
              <a:t>A0 “</a:t>
            </a:r>
            <a:r>
              <a:rPr lang="ru-RU" sz="1100" spc="-45" dirty="0">
                <a:latin typeface="Tahoma"/>
                <a:cs typeface="Tahoma"/>
              </a:rPr>
              <a:t>Управление бюджетом и разделением чеков</a:t>
            </a:r>
            <a:r>
              <a:rPr lang="en-US" sz="1100" spc="-45" dirty="0">
                <a:latin typeface="Tahoma"/>
                <a:cs typeface="Tahoma"/>
              </a:rPr>
              <a:t>”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F295B95-7D0D-4A7C-9BA3-B7D124D2A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0365"/>
            <a:ext cx="5759450" cy="213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277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5759996" cy="345059"/>
          </a:xfrm>
          <a:prstGeom prst="rect">
            <a:avLst/>
          </a:prstGeom>
          <a:solidFill>
            <a:srgbClr val="7E10FF"/>
          </a:solidFill>
        </p:spPr>
        <p:txBody>
          <a:bodyPr/>
          <a:lstStyle/>
          <a:p>
            <a:endParaRPr/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4AED2280-F481-49EE-B574-E83C1CB0AD7D}"/>
              </a:ext>
            </a:extLst>
          </p:cNvPr>
          <p:cNvSpPr txBox="1"/>
          <p:nvPr/>
        </p:nvSpPr>
        <p:spPr>
          <a:xfrm>
            <a:off x="112439" y="44991"/>
            <a:ext cx="4645991" cy="255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lang="ru-RU" sz="1400" b="1" spc="-2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Этап 4. Контекстная диаграмма </a:t>
            </a:r>
            <a:r>
              <a:rPr lang="en-US" sz="1400" b="1" spc="-2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A0</a:t>
            </a:r>
            <a:endParaRPr lang="en-US" sz="1400" b="1" spc="-24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9019FD9-38FB-4B69-ADCE-17D9D4A6E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2" y="619250"/>
            <a:ext cx="5759450" cy="1724633"/>
          </a:xfrm>
          <a:prstGeom prst="rect">
            <a:avLst/>
          </a:prstGeom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90E5CC81-3C61-455C-BA85-90A1BDF0F444}"/>
              </a:ext>
            </a:extLst>
          </p:cNvPr>
          <p:cNvSpPr txBox="1"/>
          <p:nvPr/>
        </p:nvSpPr>
        <p:spPr>
          <a:xfrm>
            <a:off x="112439" y="398766"/>
            <a:ext cx="4979670" cy="16677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en-US" sz="1100" spc="-45" dirty="0">
                <a:latin typeface="Tahoma"/>
                <a:cs typeface="Tahoma"/>
              </a:rPr>
              <a:t>DFD A-0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0FACE62-CDF2-4757-91A4-B34DBD71FC70}"/>
              </a:ext>
            </a:extLst>
          </p:cNvPr>
          <p:cNvSpPr txBox="1"/>
          <p:nvPr/>
        </p:nvSpPr>
        <p:spPr>
          <a:xfrm>
            <a:off x="112439" y="2479645"/>
            <a:ext cx="4979670" cy="5411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ru-RU" sz="1100" spc="-45" dirty="0">
                <a:latin typeface="Tahoma"/>
                <a:cs typeface="Tahoma"/>
              </a:rPr>
              <a:t>- 1 процесс </a:t>
            </a:r>
            <a:r>
              <a:rPr lang="en-US" sz="1100" spc="-45" dirty="0">
                <a:latin typeface="Tahoma"/>
                <a:cs typeface="Tahoma"/>
              </a:rPr>
              <a:t>A0 “</a:t>
            </a:r>
            <a:r>
              <a:rPr lang="ru-RU" sz="1100" spc="-45" dirty="0">
                <a:latin typeface="Tahoma"/>
                <a:cs typeface="Tahoma"/>
              </a:rPr>
              <a:t>Управление бюджетом и разделением чеков</a:t>
            </a:r>
            <a:r>
              <a:rPr lang="en-US" sz="1100" spc="-45" dirty="0">
                <a:latin typeface="Tahoma"/>
                <a:cs typeface="Tahoma"/>
              </a:rPr>
              <a:t>”</a:t>
            </a:r>
            <a:endParaRPr lang="ru-RU" sz="1100" spc="-45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ru-RU" sz="1100" spc="-45" dirty="0">
                <a:latin typeface="Tahoma"/>
                <a:cs typeface="Tahoma"/>
              </a:rPr>
              <a:t>- 2 внешние сущности</a:t>
            </a:r>
            <a:r>
              <a:rPr lang="en-US" sz="1100" spc="-45" dirty="0">
                <a:latin typeface="Tahoma"/>
                <a:cs typeface="Tahoma"/>
              </a:rPr>
              <a:t>:</a:t>
            </a:r>
            <a:r>
              <a:rPr lang="ru-RU" sz="1100" spc="-45" dirty="0">
                <a:latin typeface="Tahoma"/>
                <a:cs typeface="Tahoma"/>
              </a:rPr>
              <a:t> Пользователь и незарегистрированный пользователь</a:t>
            </a:r>
          </a:p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ru-RU" sz="1100" spc="-45" dirty="0">
                <a:latin typeface="Tahoma"/>
                <a:cs typeface="Tahoma"/>
              </a:rPr>
              <a:t>- 0 накопителей</a:t>
            </a:r>
            <a:r>
              <a:rPr lang="en-US" sz="1100" spc="-45" dirty="0">
                <a:latin typeface="Tahoma"/>
                <a:cs typeface="Tahoma"/>
              </a:rPr>
              <a:t>: </a:t>
            </a:r>
            <a:r>
              <a:rPr lang="ru-RU" sz="1100" spc="-45" dirty="0">
                <a:latin typeface="Tahoma"/>
                <a:cs typeface="Tahoma"/>
              </a:rPr>
              <a:t>внутреннее устройство скрыто</a:t>
            </a:r>
            <a:endParaRPr sz="11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70407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5759996" cy="345059"/>
          </a:xfrm>
          <a:prstGeom prst="rect">
            <a:avLst/>
          </a:prstGeom>
          <a:solidFill>
            <a:srgbClr val="7E10FF"/>
          </a:solidFill>
        </p:spPr>
        <p:txBody>
          <a:bodyPr/>
          <a:lstStyle/>
          <a:p>
            <a:endParaRPr/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4AED2280-F481-49EE-B574-E83C1CB0AD7D}"/>
              </a:ext>
            </a:extLst>
          </p:cNvPr>
          <p:cNvSpPr txBox="1"/>
          <p:nvPr/>
        </p:nvSpPr>
        <p:spPr>
          <a:xfrm>
            <a:off x="112439" y="44991"/>
            <a:ext cx="4645991" cy="255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lang="ru-RU" sz="1400" b="1" spc="-2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Этап 5. Матрица событий</a:t>
            </a:r>
            <a:endParaRPr lang="en-US" sz="1400" b="1" spc="-24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2EA63B0-6B29-49B7-89A0-1D4E66D02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748" y="390050"/>
            <a:ext cx="3529953" cy="2260150"/>
          </a:xfrm>
          <a:prstGeom prst="rect">
            <a:avLst/>
          </a:prstGeom>
        </p:spPr>
      </p:pic>
      <p:sp>
        <p:nvSpPr>
          <p:cNvPr id="10" name="object 3">
            <a:extLst>
              <a:ext uri="{FF2B5EF4-FFF2-40B4-BE49-F238E27FC236}">
                <a16:creationId xmlns:a16="http://schemas.microsoft.com/office/drawing/2014/main" id="{81F6A463-297D-4D58-8E25-B6D8C226D36D}"/>
              </a:ext>
            </a:extLst>
          </p:cNvPr>
          <p:cNvSpPr txBox="1"/>
          <p:nvPr/>
        </p:nvSpPr>
        <p:spPr>
          <a:xfrm>
            <a:off x="112439" y="2695191"/>
            <a:ext cx="4979670" cy="34111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ru-RU" sz="1100" dirty="0">
                <a:latin typeface="Tahoma"/>
                <a:cs typeface="Tahoma"/>
              </a:rPr>
              <a:t>Накопители</a:t>
            </a:r>
            <a:r>
              <a:rPr lang="en-US" sz="1100" dirty="0">
                <a:latin typeface="Tahoma"/>
                <a:cs typeface="Tahoma"/>
              </a:rPr>
              <a:t>:</a:t>
            </a:r>
            <a:r>
              <a:rPr lang="ru-RU" sz="1100" dirty="0">
                <a:latin typeface="Tahoma"/>
                <a:cs typeface="Tahoma"/>
              </a:rPr>
              <a:t> </a:t>
            </a:r>
            <a:r>
              <a:rPr lang="en-US" sz="1100" dirty="0">
                <a:latin typeface="Tahoma"/>
                <a:cs typeface="Tahoma"/>
              </a:rPr>
              <a:t>D1</a:t>
            </a:r>
            <a:r>
              <a:rPr lang="ru-RU" sz="1100" dirty="0">
                <a:latin typeface="Tahoma"/>
                <a:cs typeface="Tahoma"/>
              </a:rPr>
              <a:t> журнал операций</a:t>
            </a:r>
            <a:r>
              <a:rPr lang="en-US" sz="1100" dirty="0">
                <a:latin typeface="Tahoma"/>
                <a:cs typeface="Tahoma"/>
              </a:rPr>
              <a:t>, D2</a:t>
            </a:r>
            <a:r>
              <a:rPr lang="ru-RU" sz="1100" dirty="0">
                <a:latin typeface="Tahoma"/>
                <a:cs typeface="Tahoma"/>
              </a:rPr>
              <a:t> счета и балансы</a:t>
            </a:r>
            <a:r>
              <a:rPr lang="en-US" sz="1100" dirty="0">
                <a:latin typeface="Tahoma"/>
                <a:cs typeface="Tahoma"/>
              </a:rPr>
              <a:t>,</a:t>
            </a:r>
            <a:r>
              <a:rPr lang="ru-RU" sz="1100" dirty="0">
                <a:latin typeface="Tahoma"/>
                <a:cs typeface="Tahoma"/>
              </a:rPr>
              <a:t> </a:t>
            </a:r>
            <a:r>
              <a:rPr lang="en-US" sz="1100" dirty="0">
                <a:latin typeface="Tahoma"/>
                <a:cs typeface="Tahoma"/>
              </a:rPr>
              <a:t>D3</a:t>
            </a:r>
            <a:r>
              <a:rPr lang="ru-RU" sz="1100" dirty="0">
                <a:latin typeface="Tahoma"/>
                <a:cs typeface="Tahoma"/>
              </a:rPr>
              <a:t> запросы на перевод и задолженности</a:t>
            </a:r>
            <a:r>
              <a:rPr lang="en-US" sz="1100" dirty="0">
                <a:latin typeface="Tahoma"/>
                <a:cs typeface="Tahoma"/>
              </a:rPr>
              <a:t>,</a:t>
            </a:r>
            <a:r>
              <a:rPr lang="ru-RU" sz="1100" dirty="0">
                <a:latin typeface="Tahoma"/>
                <a:cs typeface="Tahoma"/>
              </a:rPr>
              <a:t> </a:t>
            </a:r>
            <a:r>
              <a:rPr lang="en-US" sz="1100" dirty="0">
                <a:latin typeface="Tahoma"/>
                <a:cs typeface="Tahoma"/>
              </a:rPr>
              <a:t>D4</a:t>
            </a:r>
            <a:r>
              <a:rPr lang="ru-RU" sz="1100" dirty="0">
                <a:latin typeface="Tahoma"/>
                <a:cs typeface="Tahoma"/>
              </a:rPr>
              <a:t> бюджеты и лимиты</a:t>
            </a:r>
            <a:endParaRPr sz="11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066296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5759996" cy="345059"/>
          </a:xfrm>
          <a:prstGeom prst="rect">
            <a:avLst/>
          </a:prstGeom>
          <a:solidFill>
            <a:srgbClr val="7E10FF"/>
          </a:solidFill>
        </p:spPr>
        <p:txBody>
          <a:bodyPr/>
          <a:lstStyle/>
          <a:p>
            <a:endParaRPr/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4AED2280-F481-49EE-B574-E83C1CB0AD7D}"/>
              </a:ext>
            </a:extLst>
          </p:cNvPr>
          <p:cNvSpPr txBox="1"/>
          <p:nvPr/>
        </p:nvSpPr>
        <p:spPr>
          <a:xfrm>
            <a:off x="112439" y="44991"/>
            <a:ext cx="4645991" cy="255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lang="ru-RU" sz="1400" b="1" spc="-2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Этап 6. Диаграмма </a:t>
            </a:r>
            <a:r>
              <a:rPr lang="en-US" sz="1400" b="1" spc="-2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A0</a:t>
            </a:r>
            <a:endParaRPr lang="en-US" sz="1400" b="1" spc="-24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7496328-3BB5-42B6-97C4-27A062E5C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4069"/>
            <a:ext cx="5759450" cy="2531028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C5A2621E-E227-451B-9302-5171CA977243}"/>
              </a:ext>
            </a:extLst>
          </p:cNvPr>
          <p:cNvSpPr txBox="1"/>
          <p:nvPr/>
        </p:nvSpPr>
        <p:spPr>
          <a:xfrm>
            <a:off x="112439" y="398766"/>
            <a:ext cx="4979670" cy="16677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en-US" sz="1100" spc="-45" dirty="0">
                <a:latin typeface="Tahoma"/>
                <a:cs typeface="Tahoma"/>
              </a:rPr>
              <a:t>DFD A0</a:t>
            </a:r>
            <a:endParaRPr sz="11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567088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5759996" cy="345059"/>
          </a:xfrm>
          <a:prstGeom prst="rect">
            <a:avLst/>
          </a:prstGeom>
          <a:solidFill>
            <a:srgbClr val="7E10FF"/>
          </a:solidFill>
        </p:spPr>
        <p:txBody>
          <a:bodyPr/>
          <a:lstStyle/>
          <a:p>
            <a:endParaRPr/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4AED2280-F481-49EE-B574-E83C1CB0AD7D}"/>
              </a:ext>
            </a:extLst>
          </p:cNvPr>
          <p:cNvSpPr txBox="1"/>
          <p:nvPr/>
        </p:nvSpPr>
        <p:spPr>
          <a:xfrm>
            <a:off x="112439" y="44991"/>
            <a:ext cx="4645991" cy="255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lang="ru-RU" sz="1400" b="1" spc="-2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Этап </a:t>
            </a:r>
            <a:r>
              <a:rPr lang="en-US" sz="1400" b="1" spc="-2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</a:t>
            </a:r>
            <a:r>
              <a:rPr lang="ru-RU" sz="1400" b="1" spc="-2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Декомпозиция процесса </a:t>
            </a:r>
            <a:r>
              <a:rPr lang="en-US" sz="1400" b="1" spc="-2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A4</a:t>
            </a:r>
            <a:endParaRPr lang="en-US" sz="1400" b="1" spc="-24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C237A8-4C6A-4094-8205-4EAF18DF2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31" y="421122"/>
            <a:ext cx="4492787" cy="257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440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5759996" cy="345059"/>
          </a:xfrm>
          <a:prstGeom prst="rect">
            <a:avLst/>
          </a:prstGeom>
          <a:solidFill>
            <a:srgbClr val="7E10FF"/>
          </a:solidFill>
        </p:spPr>
        <p:txBody>
          <a:bodyPr/>
          <a:lstStyle/>
          <a:p>
            <a:endParaRPr/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4AED2280-F481-49EE-B574-E83C1CB0AD7D}"/>
              </a:ext>
            </a:extLst>
          </p:cNvPr>
          <p:cNvSpPr txBox="1"/>
          <p:nvPr/>
        </p:nvSpPr>
        <p:spPr>
          <a:xfrm>
            <a:off x="112439" y="44991"/>
            <a:ext cx="4645991" cy="255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lang="ru-RU" sz="1400" b="1" spc="-2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Выводы</a:t>
            </a:r>
            <a:endParaRPr lang="en-US" sz="1400" b="1" spc="-24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674A4EE9-E205-4A35-A37A-991F6CEB5D8D}"/>
              </a:ext>
            </a:extLst>
          </p:cNvPr>
          <p:cNvSpPr txBox="1"/>
          <p:nvPr/>
        </p:nvSpPr>
        <p:spPr>
          <a:xfrm>
            <a:off x="215900" y="684402"/>
            <a:ext cx="4979670" cy="71545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150" marR="5080" indent="-171450">
              <a:lnSpc>
                <a:spcPct val="102600"/>
              </a:lnSpc>
              <a:spcBef>
                <a:spcPts val="55"/>
              </a:spcBef>
              <a:buFontTx/>
              <a:buChar char="-"/>
            </a:pPr>
            <a:r>
              <a:rPr lang="ru-RU" sz="1100" spc="-45" dirty="0">
                <a:latin typeface="Tahoma"/>
                <a:cs typeface="Tahoma"/>
              </a:rPr>
              <a:t>Спроектирована функциональная модель АИС управления бюджетом и разделения чеков в нотации </a:t>
            </a:r>
            <a:r>
              <a:rPr lang="en-US" sz="1100" spc="-45" dirty="0">
                <a:latin typeface="Tahoma"/>
                <a:cs typeface="Tahoma"/>
              </a:rPr>
              <a:t>DFD</a:t>
            </a:r>
            <a:endParaRPr lang="ru-RU" sz="1100" spc="-45" dirty="0">
              <a:latin typeface="Tahoma"/>
              <a:cs typeface="Tahoma"/>
            </a:endParaRPr>
          </a:p>
          <a:p>
            <a:pPr marL="184150" marR="5080" indent="-171450">
              <a:lnSpc>
                <a:spcPct val="102600"/>
              </a:lnSpc>
              <a:spcBef>
                <a:spcPts val="55"/>
              </a:spcBef>
              <a:buFontTx/>
              <a:buChar char="-"/>
            </a:pPr>
            <a:r>
              <a:rPr lang="ru-RU" sz="1100" spc="-45" dirty="0">
                <a:latin typeface="Tahoma"/>
                <a:cs typeface="Tahoma"/>
              </a:rPr>
              <a:t>Построены три уровня модели</a:t>
            </a:r>
            <a:r>
              <a:rPr lang="en-US" sz="1100" spc="-45" dirty="0">
                <a:latin typeface="Tahoma"/>
                <a:cs typeface="Tahoma"/>
              </a:rPr>
              <a:t>:</a:t>
            </a:r>
            <a:r>
              <a:rPr lang="ru-RU" sz="1100" spc="-45" dirty="0">
                <a:latin typeface="Tahoma"/>
                <a:cs typeface="Tahoma"/>
              </a:rPr>
              <a:t> </a:t>
            </a:r>
            <a:r>
              <a:rPr lang="en-US" sz="1100" spc="-45" dirty="0">
                <a:latin typeface="Tahoma"/>
                <a:cs typeface="Tahoma"/>
              </a:rPr>
              <a:t>A-0 -&gt; A0 -&gt; A4</a:t>
            </a:r>
          </a:p>
          <a:p>
            <a:pPr marL="184150" marR="5080" indent="-171450">
              <a:lnSpc>
                <a:spcPct val="102600"/>
              </a:lnSpc>
              <a:spcBef>
                <a:spcPts val="55"/>
              </a:spcBef>
              <a:buFontTx/>
              <a:buChar char="-"/>
            </a:pPr>
            <a:r>
              <a:rPr lang="ru-RU" sz="1100" spc="-45" dirty="0">
                <a:latin typeface="Tahoma"/>
                <a:cs typeface="Tahoma"/>
              </a:rPr>
              <a:t>Модель соответствует предметной области </a:t>
            </a:r>
            <a:endParaRPr sz="11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693979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5759996" cy="3239999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" y="-83"/>
            <a:ext cx="5760281" cy="3240158"/>
          </a:xfrm>
          <a:prstGeom prst="rect">
            <a:avLst/>
          </a:prstGeom>
        </p:spPr>
      </p:pic>
      <p:sp>
        <p:nvSpPr>
          <p:cNvPr id="6" name="Shape 6"/>
          <p:cNvSpPr/>
          <p:nvPr/>
        </p:nvSpPr>
        <p:spPr>
          <a:xfrm>
            <a:off x="2102131" y="2798518"/>
            <a:ext cx="68341" cy="121782"/>
          </a:xfrm>
          <a:custGeom>
            <a:avLst/>
            <a:gdLst/>
            <a:ahLst/>
            <a:cxnLst/>
            <a:rect l="0" t="0" r="68341" b="121782"/>
            <a:pathLst>
              <a:path w="68341" h="121782" stroke="0">
                <a:moveTo>
                  <a:pt x="60795" y="91134"/>
                </a:moveTo>
                <a:cubicBezTo>
                  <a:pt x="58412" y="100896"/>
                  <a:pt x="55861" y="106844"/>
                  <a:pt x="48695" y="113473"/>
                </a:cubicBezTo>
                <a:cubicBezTo>
                  <a:pt x="41597" y="119724"/>
                  <a:pt x="32267" y="121782"/>
                  <a:pt x="25273" y="120232"/>
                </a:cubicBezTo>
                <a:cubicBezTo>
                  <a:pt x="21081" y="119300"/>
                  <a:pt x="15800" y="115881"/>
                  <a:pt x="14468" y="114496"/>
                </a:cubicBezTo>
                <a:cubicBezTo>
                  <a:pt x="9905" y="109765"/>
                  <a:pt x="7491" y="106617"/>
                  <a:pt x="4768" y="101245"/>
                </a:cubicBezTo>
                <a:cubicBezTo>
                  <a:pt x="0" y="91853"/>
                  <a:pt x="1248" y="83287"/>
                  <a:pt x="8088" y="77316"/>
                </a:cubicBezTo>
                <a:cubicBezTo>
                  <a:pt x="10517" y="75204"/>
                  <a:pt x="13220" y="73358"/>
                  <a:pt x="16004" y="71777"/>
                </a:cubicBezTo>
                <a:cubicBezTo>
                  <a:pt x="16230" y="71648"/>
                  <a:pt x="16488" y="71572"/>
                  <a:pt x="16761" y="71535"/>
                </a:cubicBezTo>
                <a:cubicBezTo>
                  <a:pt x="18524" y="71309"/>
                  <a:pt x="20037" y="72942"/>
                  <a:pt x="19870" y="74751"/>
                </a:cubicBezTo>
                <a:cubicBezTo>
                  <a:pt x="19803" y="75425"/>
                  <a:pt x="19659" y="76014"/>
                  <a:pt x="19297" y="76415"/>
                </a:cubicBezTo>
                <a:cubicBezTo>
                  <a:pt x="16277" y="79753"/>
                  <a:pt x="14287" y="83416"/>
                  <a:pt x="13704" y="87955"/>
                </a:cubicBezTo>
                <a:cubicBezTo>
                  <a:pt x="12871" y="94441"/>
                  <a:pt x="15459" y="100057"/>
                  <a:pt x="18834" y="104914"/>
                </a:cubicBezTo>
                <a:cubicBezTo>
                  <a:pt x="23284" y="111309"/>
                  <a:pt x="34303" y="110848"/>
                  <a:pt x="39258" y="104302"/>
                </a:cubicBezTo>
                <a:cubicBezTo>
                  <a:pt x="41234" y="101698"/>
                  <a:pt x="44427" y="96962"/>
                  <a:pt x="44904" y="93715"/>
                </a:cubicBezTo>
                <a:cubicBezTo>
                  <a:pt x="46955" y="84468"/>
                  <a:pt x="43989" y="79534"/>
                  <a:pt x="40779" y="72064"/>
                </a:cubicBezTo>
                <a:cubicBezTo>
                  <a:pt x="36058" y="61084"/>
                  <a:pt x="31903" y="54024"/>
                  <a:pt x="27060" y="38912"/>
                </a:cubicBezTo>
                <a:cubicBezTo>
                  <a:pt x="24533" y="31012"/>
                  <a:pt x="23398" y="23633"/>
                  <a:pt x="25994" y="16195"/>
                </a:cubicBezTo>
                <a:cubicBezTo>
                  <a:pt x="29913" y="7673"/>
                  <a:pt x="36852" y="2656"/>
                  <a:pt x="46010" y="1279"/>
                </a:cubicBezTo>
                <a:cubicBezTo>
                  <a:pt x="54431" y="0"/>
                  <a:pt x="60940" y="3520"/>
                  <a:pt x="65935" y="10217"/>
                </a:cubicBezTo>
                <a:cubicBezTo>
                  <a:pt x="66427" y="10882"/>
                  <a:pt x="67083" y="12085"/>
                  <a:pt x="67357" y="12881"/>
                </a:cubicBezTo>
                <a:cubicBezTo>
                  <a:pt x="68341" y="15779"/>
                  <a:pt x="67364" y="16951"/>
                  <a:pt x="64489" y="16180"/>
                </a:cubicBezTo>
                <a:cubicBezTo>
                  <a:pt x="63346" y="15870"/>
                  <a:pt x="62339" y="15045"/>
                  <a:pt x="61258" y="14485"/>
                </a:cubicBezTo>
                <a:cubicBezTo>
                  <a:pt x="54757" y="11087"/>
                  <a:pt x="48515" y="11004"/>
                  <a:pt x="44571" y="14983"/>
                </a:cubicBezTo>
                <a:cubicBezTo>
                  <a:pt x="44321" y="15233"/>
                  <a:pt x="44003" y="15529"/>
                  <a:pt x="43672" y="15891"/>
                </a:cubicBezTo>
                <a:cubicBezTo>
                  <a:pt x="39660" y="20304"/>
                  <a:pt x="38373" y="26585"/>
                  <a:pt x="39803" y="32426"/>
                </a:cubicBezTo>
                <a:cubicBezTo>
                  <a:pt x="41612" y="39813"/>
                  <a:pt x="45427" y="48772"/>
                  <a:pt x="50859" y="56946"/>
                </a:cubicBezTo>
                <a:cubicBezTo>
                  <a:pt x="53267" y="60563"/>
                  <a:pt x="56301" y="66903"/>
                  <a:pt x="57480" y="71111"/>
                </a:cubicBezTo>
                <a:cubicBezTo>
                  <a:pt x="59735" y="79224"/>
                  <a:pt x="61167" y="82432"/>
                  <a:pt x="60795" y="91134"/>
                </a:cubicBezTo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2094140" y="2766826"/>
            <a:ext cx="26281" cy="50989"/>
          </a:xfrm>
          <a:custGeom>
            <a:avLst/>
            <a:gdLst/>
            <a:ahLst/>
            <a:cxnLst/>
            <a:rect l="0" t="0" r="26281" b="50989"/>
            <a:pathLst>
              <a:path w="26281" h="50989" stroke="0">
                <a:moveTo>
                  <a:pt x="26122" y="9314"/>
                </a:moveTo>
                <a:cubicBezTo>
                  <a:pt x="26130" y="15597"/>
                  <a:pt x="24388" y="21430"/>
                  <a:pt x="20969" y="26538"/>
                </a:cubicBezTo>
                <a:cubicBezTo>
                  <a:pt x="15920" y="34069"/>
                  <a:pt x="10517" y="41347"/>
                  <a:pt x="5258" y="48718"/>
                </a:cubicBezTo>
                <a:cubicBezTo>
                  <a:pt x="4911" y="49210"/>
                  <a:pt x="4562" y="49838"/>
                  <a:pt x="4062" y="50065"/>
                </a:cubicBezTo>
                <a:cubicBezTo>
                  <a:pt x="3805" y="50179"/>
                  <a:pt x="3549" y="50285"/>
                  <a:pt x="3284" y="50390"/>
                </a:cubicBezTo>
                <a:cubicBezTo>
                  <a:pt x="1695" y="50989"/>
                  <a:pt x="0" y="49460"/>
                  <a:pt x="628" y="47856"/>
                </a:cubicBezTo>
                <a:cubicBezTo>
                  <a:pt x="635" y="47841"/>
                  <a:pt x="635" y="47833"/>
                  <a:pt x="643" y="47817"/>
                </a:cubicBezTo>
                <a:cubicBezTo>
                  <a:pt x="3805" y="40068"/>
                  <a:pt x="7234" y="32434"/>
                  <a:pt x="10291" y="24632"/>
                </a:cubicBezTo>
                <a:cubicBezTo>
                  <a:pt x="12191" y="19789"/>
                  <a:pt x="13803" y="14793"/>
                  <a:pt x="15111" y="9754"/>
                </a:cubicBezTo>
                <a:cubicBezTo>
                  <a:pt x="15587" y="7929"/>
                  <a:pt x="14952" y="5736"/>
                  <a:pt x="14551" y="3768"/>
                </a:cubicBezTo>
                <a:cubicBezTo>
                  <a:pt x="13923" y="726"/>
                  <a:pt x="14483" y="0"/>
                  <a:pt x="17519" y="446"/>
                </a:cubicBezTo>
                <a:cubicBezTo>
                  <a:pt x="18222" y="552"/>
                  <a:pt x="18917" y="726"/>
                  <a:pt x="19615" y="893"/>
                </a:cubicBezTo>
                <a:cubicBezTo>
                  <a:pt x="25357" y="2247"/>
                  <a:pt x="26281" y="3435"/>
                  <a:pt x="26122" y="9314"/>
                </a:cubicBezTo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939998" y="2695978"/>
            <a:ext cx="215353" cy="218298"/>
          </a:xfrm>
          <a:custGeom>
            <a:avLst/>
            <a:gdLst/>
            <a:ahLst/>
            <a:cxnLst/>
            <a:rect l="0" t="0" r="215353" b="218298"/>
            <a:pathLst>
              <a:path w="215353" h="218298" stroke="0">
                <a:moveTo>
                  <a:pt x="0" y="44044"/>
                </a:moveTo>
                <a:lnTo>
                  <a:pt x="82477" y="44044"/>
                </a:lnTo>
                <a:lnTo>
                  <a:pt x="82477" y="218298"/>
                </a:lnTo>
                <a:lnTo>
                  <a:pt x="131379" y="218298"/>
                </a:lnTo>
                <a:lnTo>
                  <a:pt x="131379" y="44044"/>
                </a:lnTo>
                <a:lnTo>
                  <a:pt x="215353" y="44044"/>
                </a:lnTo>
                <a:lnTo>
                  <a:pt x="215353" y="0"/>
                </a:lnTo>
                <a:lnTo>
                  <a:pt x="0" y="0"/>
                </a:lnTo>
                <a:lnTo>
                  <a:pt x="0" y="44044"/>
                </a:lnTo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8114" y="2695502"/>
            <a:ext cx="307579" cy="218775"/>
          </a:xfrm>
          <a:custGeom>
            <a:avLst/>
            <a:gdLst/>
            <a:ahLst/>
            <a:cxnLst/>
            <a:rect l="0" t="0" r="307579" b="218775"/>
            <a:pathLst>
              <a:path w="307579" h="218775" stroke="0">
                <a:moveTo>
                  <a:pt x="252390" y="0"/>
                </a:moveTo>
                <a:lnTo>
                  <a:pt x="218412" y="0"/>
                </a:lnTo>
                <a:lnTo>
                  <a:pt x="159402" y="148057"/>
                </a:lnTo>
                <a:lnTo>
                  <a:pt x="154088" y="161391"/>
                </a:lnTo>
                <a:lnTo>
                  <a:pt x="148776" y="148057"/>
                </a:lnTo>
                <a:lnTo>
                  <a:pt x="89773" y="0"/>
                </a:lnTo>
                <a:lnTo>
                  <a:pt x="0" y="0"/>
                </a:lnTo>
                <a:lnTo>
                  <a:pt x="0" y="218775"/>
                </a:lnTo>
                <a:lnTo>
                  <a:pt x="49454" y="218775"/>
                </a:lnTo>
                <a:lnTo>
                  <a:pt x="49454" y="17511"/>
                </a:lnTo>
                <a:lnTo>
                  <a:pt x="60526" y="46403"/>
                </a:lnTo>
                <a:lnTo>
                  <a:pt x="126604" y="218775"/>
                </a:lnTo>
                <a:lnTo>
                  <a:pt x="181581" y="218775"/>
                </a:lnTo>
                <a:lnTo>
                  <a:pt x="247055" y="47970"/>
                </a:lnTo>
                <a:lnTo>
                  <a:pt x="258126" y="19086"/>
                </a:lnTo>
                <a:lnTo>
                  <a:pt x="258126" y="218775"/>
                </a:lnTo>
                <a:lnTo>
                  <a:pt x="307579" y="218775"/>
                </a:lnTo>
                <a:lnTo>
                  <a:pt x="307579" y="0"/>
                </a:lnTo>
                <a:lnTo>
                  <a:pt x="252390" y="0"/>
                </a:lnTo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1859586" y="2695502"/>
            <a:ext cx="49452" cy="2187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859534" y="2625943"/>
            <a:ext cx="49507" cy="49681"/>
          </a:xfrm>
          <a:prstGeom prst="ellipse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859586" y="2967809"/>
            <a:ext cx="212835" cy="218296"/>
          </a:xfrm>
          <a:custGeom>
            <a:avLst/>
            <a:gdLst/>
            <a:ahLst/>
            <a:cxnLst/>
            <a:rect l="0" t="0" r="212835" b="218296"/>
            <a:pathLst>
              <a:path w="212835" h="218296" stroke="0">
                <a:moveTo>
                  <a:pt x="163388" y="51163"/>
                </a:moveTo>
                <a:lnTo>
                  <a:pt x="163388" y="114275"/>
                </a:lnTo>
                <a:cubicBezTo>
                  <a:pt x="163388" y="146391"/>
                  <a:pt x="137834" y="172515"/>
                  <a:pt x="106421" y="172515"/>
                </a:cubicBezTo>
                <a:cubicBezTo>
                  <a:pt x="75009" y="172515"/>
                  <a:pt x="49454" y="146391"/>
                  <a:pt x="49454" y="114275"/>
                </a:cubicBezTo>
                <a:lnTo>
                  <a:pt x="49454" y="0"/>
                </a:lnTo>
                <a:lnTo>
                  <a:pt x="0" y="0"/>
                </a:lnTo>
                <a:lnTo>
                  <a:pt x="0" y="109622"/>
                </a:lnTo>
                <a:cubicBezTo>
                  <a:pt x="0" y="169547"/>
                  <a:pt x="47684" y="218296"/>
                  <a:pt x="106299" y="218296"/>
                </a:cubicBezTo>
                <a:lnTo>
                  <a:pt x="106541" y="218296"/>
                </a:lnTo>
                <a:cubicBezTo>
                  <a:pt x="165151" y="218296"/>
                  <a:pt x="212835" y="169547"/>
                  <a:pt x="212835" y="109622"/>
                </a:cubicBezTo>
                <a:lnTo>
                  <a:pt x="212835" y="0"/>
                </a:lnTo>
                <a:lnTo>
                  <a:pt x="163388" y="0"/>
                </a:lnTo>
                <a:lnTo>
                  <a:pt x="163388" y="51163"/>
                </a:lnTo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3" name="Shape 13"/>
          <p:cNvSpPr/>
          <p:nvPr/>
        </p:nvSpPr>
        <p:spPr>
          <a:xfrm>
            <a:off x="3597375" y="2967332"/>
            <a:ext cx="204299" cy="219811"/>
          </a:xfrm>
          <a:custGeom>
            <a:avLst/>
            <a:gdLst/>
            <a:ahLst/>
            <a:cxnLst/>
            <a:rect l="0" t="0" r="204299" b="219811"/>
            <a:pathLst>
              <a:path w="204299" h="219811" stroke="0">
                <a:moveTo>
                  <a:pt x="154467" y="0"/>
                </a:moveTo>
                <a:lnTo>
                  <a:pt x="106148" y="82409"/>
                </a:lnTo>
                <a:lnTo>
                  <a:pt x="101109" y="90997"/>
                </a:lnTo>
                <a:lnTo>
                  <a:pt x="96251" y="82295"/>
                </a:lnTo>
                <a:lnTo>
                  <a:pt x="50256" y="0"/>
                </a:lnTo>
                <a:lnTo>
                  <a:pt x="0" y="0"/>
                </a:lnTo>
                <a:lnTo>
                  <a:pt x="78620" y="133140"/>
                </a:lnTo>
                <a:lnTo>
                  <a:pt x="79451" y="134541"/>
                </a:lnTo>
                <a:lnTo>
                  <a:pt x="79451" y="219811"/>
                </a:lnTo>
                <a:lnTo>
                  <a:pt x="123674" y="219811"/>
                </a:lnTo>
                <a:lnTo>
                  <a:pt x="123674" y="132437"/>
                </a:lnTo>
                <a:lnTo>
                  <a:pt x="124539" y="131023"/>
                </a:lnTo>
                <a:lnTo>
                  <a:pt x="204299" y="0"/>
                </a:lnTo>
                <a:lnTo>
                  <a:pt x="154467" y="0"/>
                </a:lnTo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4" name="Shape 14"/>
          <p:cNvSpPr/>
          <p:nvPr/>
        </p:nvSpPr>
        <p:spPr>
          <a:xfrm>
            <a:off x="3361401" y="2968080"/>
            <a:ext cx="215345" cy="218306"/>
          </a:xfrm>
          <a:custGeom>
            <a:avLst/>
            <a:gdLst/>
            <a:ahLst/>
            <a:cxnLst/>
            <a:rect l="0" t="0" r="215345" b="218306"/>
            <a:pathLst>
              <a:path w="215345" h="218306" stroke="0">
                <a:moveTo>
                  <a:pt x="0" y="44051"/>
                </a:moveTo>
                <a:lnTo>
                  <a:pt x="82477" y="44051"/>
                </a:lnTo>
                <a:lnTo>
                  <a:pt x="82477" y="218306"/>
                </a:lnTo>
                <a:lnTo>
                  <a:pt x="131369" y="218306"/>
                </a:lnTo>
                <a:lnTo>
                  <a:pt x="131369" y="44051"/>
                </a:lnTo>
                <a:lnTo>
                  <a:pt x="215345" y="44051"/>
                </a:lnTo>
                <a:lnTo>
                  <a:pt x="215345" y="0"/>
                </a:lnTo>
                <a:lnTo>
                  <a:pt x="0" y="0"/>
                </a:lnTo>
                <a:lnTo>
                  <a:pt x="0" y="44051"/>
                </a:lnTo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5" name="Shape 15"/>
          <p:cNvSpPr/>
          <p:nvPr/>
        </p:nvSpPr>
        <p:spPr>
          <a:xfrm>
            <a:off x="2370546" y="2967869"/>
            <a:ext cx="49445" cy="2187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6" name="Shape 16"/>
          <p:cNvSpPr/>
          <p:nvPr/>
        </p:nvSpPr>
        <p:spPr>
          <a:xfrm>
            <a:off x="3281799" y="2967869"/>
            <a:ext cx="49445" cy="2187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7" name="Shape 17"/>
          <p:cNvSpPr/>
          <p:nvPr/>
        </p:nvSpPr>
        <p:spPr>
          <a:xfrm>
            <a:off x="2697588" y="2967869"/>
            <a:ext cx="158439" cy="218775"/>
          </a:xfrm>
          <a:custGeom>
            <a:avLst/>
            <a:gdLst/>
            <a:ahLst/>
            <a:cxnLst/>
            <a:rect l="0" t="0" r="158439" b="218775"/>
            <a:pathLst>
              <a:path w="158439" h="218775" stroke="0">
                <a:moveTo>
                  <a:pt x="49445" y="234"/>
                </a:moveTo>
                <a:lnTo>
                  <a:pt x="49445" y="0"/>
                </a:lnTo>
                <a:lnTo>
                  <a:pt x="0" y="0"/>
                </a:lnTo>
                <a:lnTo>
                  <a:pt x="0" y="218775"/>
                </a:lnTo>
                <a:lnTo>
                  <a:pt x="158439" y="218775"/>
                </a:lnTo>
                <a:lnTo>
                  <a:pt x="158439" y="174731"/>
                </a:lnTo>
                <a:lnTo>
                  <a:pt x="49445" y="174731"/>
                </a:lnTo>
                <a:lnTo>
                  <a:pt x="49445" y="129192"/>
                </a:lnTo>
                <a:lnTo>
                  <a:pt x="138188" y="129192"/>
                </a:lnTo>
                <a:lnTo>
                  <a:pt x="138188" y="88986"/>
                </a:lnTo>
                <a:lnTo>
                  <a:pt x="49445" y="88986"/>
                </a:lnTo>
                <a:lnTo>
                  <a:pt x="49445" y="44284"/>
                </a:lnTo>
                <a:lnTo>
                  <a:pt x="158439" y="44284"/>
                </a:lnTo>
                <a:lnTo>
                  <a:pt x="158439" y="234"/>
                </a:lnTo>
                <a:lnTo>
                  <a:pt x="49445" y="234"/>
                </a:lnTo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2104983" y="2967869"/>
            <a:ext cx="232911" cy="218775"/>
          </a:xfrm>
          <a:custGeom>
            <a:avLst/>
            <a:gdLst/>
            <a:ahLst/>
            <a:cxnLst/>
            <a:rect l="0" t="0" r="232911" b="218775"/>
            <a:pathLst>
              <a:path w="232911" h="218775" stroke="0">
                <a:moveTo>
                  <a:pt x="183456" y="188664"/>
                </a:moveTo>
                <a:lnTo>
                  <a:pt x="183456" y="218592"/>
                </a:lnTo>
                <a:lnTo>
                  <a:pt x="172416" y="190872"/>
                </a:lnTo>
                <a:lnTo>
                  <a:pt x="96350" y="0"/>
                </a:lnTo>
                <a:lnTo>
                  <a:pt x="0" y="0"/>
                </a:lnTo>
                <a:lnTo>
                  <a:pt x="0" y="218775"/>
                </a:lnTo>
                <a:lnTo>
                  <a:pt x="49454" y="218775"/>
                </a:lnTo>
                <a:lnTo>
                  <a:pt x="49454" y="372"/>
                </a:lnTo>
                <a:lnTo>
                  <a:pt x="60524" y="29264"/>
                </a:lnTo>
                <a:lnTo>
                  <a:pt x="133171" y="218775"/>
                </a:lnTo>
                <a:lnTo>
                  <a:pt x="232911" y="218775"/>
                </a:lnTo>
                <a:lnTo>
                  <a:pt x="232911" y="0"/>
                </a:lnTo>
                <a:lnTo>
                  <a:pt x="183456" y="0"/>
                </a:lnTo>
                <a:lnTo>
                  <a:pt x="183456" y="188664"/>
                </a:lnTo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9" name="Shape 19"/>
          <p:cNvSpPr/>
          <p:nvPr/>
        </p:nvSpPr>
        <p:spPr>
          <a:xfrm>
            <a:off x="2447439" y="2967869"/>
            <a:ext cx="222798" cy="218775"/>
          </a:xfrm>
          <a:custGeom>
            <a:avLst/>
            <a:gdLst/>
            <a:ahLst/>
            <a:cxnLst/>
            <a:rect l="0" t="0" r="222798" b="218775"/>
            <a:pathLst>
              <a:path w="222798" h="218775" stroke="0">
                <a:moveTo>
                  <a:pt x="138936" y="218775"/>
                </a:moveTo>
                <a:lnTo>
                  <a:pt x="222798" y="0"/>
                </a:lnTo>
                <a:lnTo>
                  <a:pt x="175768" y="0"/>
                </a:lnTo>
                <a:lnTo>
                  <a:pt x="116712" y="148185"/>
                </a:lnTo>
                <a:lnTo>
                  <a:pt x="111400" y="161511"/>
                </a:lnTo>
                <a:lnTo>
                  <a:pt x="106086" y="148185"/>
                </a:lnTo>
                <a:lnTo>
                  <a:pt x="47031" y="0"/>
                </a:lnTo>
                <a:lnTo>
                  <a:pt x="0" y="0"/>
                </a:lnTo>
                <a:lnTo>
                  <a:pt x="83854" y="218775"/>
                </a:lnTo>
                <a:lnTo>
                  <a:pt x="138936" y="218775"/>
                </a:lnTo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0" name="Shape 20"/>
          <p:cNvSpPr/>
          <p:nvPr/>
        </p:nvSpPr>
        <p:spPr>
          <a:xfrm>
            <a:off x="2889301" y="2967324"/>
            <a:ext cx="182949" cy="219819"/>
          </a:xfrm>
          <a:custGeom>
            <a:avLst/>
            <a:gdLst/>
            <a:ahLst/>
            <a:cxnLst/>
            <a:rect l="0" t="0" r="182949" b="219819"/>
            <a:pathLst>
              <a:path w="182949" h="219819" stroke="0">
                <a:moveTo>
                  <a:pt x="89885" y="147435"/>
                </a:moveTo>
                <a:lnTo>
                  <a:pt x="93192" y="147435"/>
                </a:lnTo>
                <a:lnTo>
                  <a:pt x="94850" y="150364"/>
                </a:lnTo>
                <a:lnTo>
                  <a:pt x="134124" y="219819"/>
                </a:lnTo>
                <a:lnTo>
                  <a:pt x="182949" y="219819"/>
                </a:lnTo>
                <a:lnTo>
                  <a:pt x="140618" y="144917"/>
                </a:lnTo>
                <a:lnTo>
                  <a:pt x="137696" y="139754"/>
                </a:lnTo>
                <a:lnTo>
                  <a:pt x="142797" y="136856"/>
                </a:lnTo>
                <a:cubicBezTo>
                  <a:pt x="153921" y="130538"/>
                  <a:pt x="162850" y="121675"/>
                  <a:pt x="169336" y="110515"/>
                </a:cubicBezTo>
                <a:cubicBezTo>
                  <a:pt x="175812" y="99376"/>
                  <a:pt x="179097" y="86995"/>
                  <a:pt x="179097" y="73722"/>
                </a:cubicBezTo>
                <a:cubicBezTo>
                  <a:pt x="179097" y="52608"/>
                  <a:pt x="171802" y="35506"/>
                  <a:pt x="156804" y="21445"/>
                </a:cubicBezTo>
                <a:lnTo>
                  <a:pt x="156759" y="21401"/>
                </a:lnTo>
                <a:lnTo>
                  <a:pt x="156713" y="21362"/>
                </a:lnTo>
                <a:cubicBezTo>
                  <a:pt x="142024" y="6992"/>
                  <a:pt x="123893" y="0"/>
                  <a:pt x="101297" y="0"/>
                </a:cubicBezTo>
                <a:lnTo>
                  <a:pt x="0" y="0"/>
                </a:lnTo>
                <a:lnTo>
                  <a:pt x="0" y="219819"/>
                </a:lnTo>
                <a:lnTo>
                  <a:pt x="44224" y="219819"/>
                </a:lnTo>
                <a:lnTo>
                  <a:pt x="44224" y="147435"/>
                </a:lnTo>
                <a:close/>
                <a:moveTo>
                  <a:pt x="44224" y="101162"/>
                </a:moveTo>
                <a:lnTo>
                  <a:pt x="44224" y="40758"/>
                </a:lnTo>
                <a:lnTo>
                  <a:pt x="101297" y="40758"/>
                </a:lnTo>
                <a:cubicBezTo>
                  <a:pt x="110242" y="40758"/>
                  <a:pt x="117824" y="43951"/>
                  <a:pt x="123839" y="50239"/>
                </a:cubicBezTo>
                <a:cubicBezTo>
                  <a:pt x="129825" y="56506"/>
                  <a:pt x="132861" y="64398"/>
                  <a:pt x="132861" y="73722"/>
                </a:cubicBezTo>
                <a:cubicBezTo>
                  <a:pt x="132861" y="83013"/>
                  <a:pt x="129841" y="90960"/>
                  <a:pt x="123893" y="97324"/>
                </a:cubicBezTo>
                <a:cubicBezTo>
                  <a:pt x="117868" y="103763"/>
                  <a:pt x="110265" y="107026"/>
                  <a:pt x="101297" y="107026"/>
                </a:cubicBezTo>
                <a:lnTo>
                  <a:pt x="44224" y="107026"/>
                </a:lnTo>
                <a:lnTo>
                  <a:pt x="44224" y="101162"/>
                </a:lnTo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1" name="Shape 21"/>
          <p:cNvSpPr/>
          <p:nvPr/>
        </p:nvSpPr>
        <p:spPr>
          <a:xfrm>
            <a:off x="3090320" y="2963556"/>
            <a:ext cx="164440" cy="227355"/>
          </a:xfrm>
          <a:custGeom>
            <a:avLst/>
            <a:gdLst/>
            <a:ahLst/>
            <a:cxnLst/>
            <a:rect l="0" t="0" r="164440" b="227355"/>
            <a:pathLst>
              <a:path w="164440" h="227355" stroke="0">
                <a:moveTo>
                  <a:pt x="108963" y="181866"/>
                </a:moveTo>
                <a:cubicBezTo>
                  <a:pt x="102516" y="185688"/>
                  <a:pt x="94548" y="187633"/>
                  <a:pt x="85294" y="187633"/>
                </a:cubicBezTo>
                <a:cubicBezTo>
                  <a:pt x="74865" y="187633"/>
                  <a:pt x="65791" y="185264"/>
                  <a:pt x="58315" y="180595"/>
                </a:cubicBezTo>
                <a:cubicBezTo>
                  <a:pt x="52269" y="176835"/>
                  <a:pt x="47932" y="172135"/>
                  <a:pt x="45359" y="166589"/>
                </a:cubicBezTo>
                <a:lnTo>
                  <a:pt x="0" y="176252"/>
                </a:lnTo>
                <a:cubicBezTo>
                  <a:pt x="4973" y="190682"/>
                  <a:pt x="14188" y="202261"/>
                  <a:pt x="28030" y="211500"/>
                </a:cubicBezTo>
                <a:cubicBezTo>
                  <a:pt x="43974" y="222012"/>
                  <a:pt x="63135" y="227355"/>
                  <a:pt x="84953" y="227355"/>
                </a:cubicBezTo>
                <a:cubicBezTo>
                  <a:pt x="108517" y="227355"/>
                  <a:pt x="127934" y="221006"/>
                  <a:pt x="142685" y="208474"/>
                </a:cubicBezTo>
                <a:cubicBezTo>
                  <a:pt x="157319" y="196033"/>
                  <a:pt x="164440" y="179785"/>
                  <a:pt x="164440" y="158785"/>
                </a:cubicBezTo>
                <a:cubicBezTo>
                  <a:pt x="164440" y="138436"/>
                  <a:pt x="157767" y="123735"/>
                  <a:pt x="144055" y="113835"/>
                </a:cubicBezTo>
                <a:lnTo>
                  <a:pt x="144000" y="113806"/>
                </a:lnTo>
                <a:lnTo>
                  <a:pt x="143963" y="113767"/>
                </a:lnTo>
                <a:cubicBezTo>
                  <a:pt x="132762" y="105344"/>
                  <a:pt x="119006" y="98641"/>
                  <a:pt x="103060" y="93827"/>
                </a:cubicBezTo>
                <a:cubicBezTo>
                  <a:pt x="101927" y="93562"/>
                  <a:pt x="99633" y="92866"/>
                  <a:pt x="93715" y="90997"/>
                </a:cubicBezTo>
                <a:cubicBezTo>
                  <a:pt x="80154" y="87002"/>
                  <a:pt x="70574" y="83657"/>
                  <a:pt x="64429" y="80751"/>
                </a:cubicBezTo>
                <a:lnTo>
                  <a:pt x="64385" y="80727"/>
                </a:lnTo>
                <a:lnTo>
                  <a:pt x="64331" y="80706"/>
                </a:lnTo>
                <a:cubicBezTo>
                  <a:pt x="54394" y="75780"/>
                  <a:pt x="49356" y="69271"/>
                  <a:pt x="49356" y="61363"/>
                </a:cubicBezTo>
                <a:cubicBezTo>
                  <a:pt x="49356" y="56793"/>
                  <a:pt x="50996" y="50239"/>
                  <a:pt x="58815" y="44971"/>
                </a:cubicBezTo>
                <a:cubicBezTo>
                  <a:pt x="64331" y="41264"/>
                  <a:pt x="70983" y="39381"/>
                  <a:pt x="78581" y="39381"/>
                </a:cubicBezTo>
                <a:cubicBezTo>
                  <a:pt x="86330" y="39381"/>
                  <a:pt x="93209" y="41234"/>
                  <a:pt x="99021" y="44882"/>
                </a:cubicBezTo>
                <a:cubicBezTo>
                  <a:pt x="103393" y="47622"/>
                  <a:pt x="106625" y="51004"/>
                  <a:pt x="108684" y="54962"/>
                </a:cubicBezTo>
                <a:lnTo>
                  <a:pt x="152900" y="45586"/>
                </a:lnTo>
                <a:cubicBezTo>
                  <a:pt x="148807" y="33538"/>
                  <a:pt x="140633" y="23419"/>
                  <a:pt x="128057" y="14777"/>
                </a:cubicBezTo>
                <a:cubicBezTo>
                  <a:pt x="114056" y="4955"/>
                  <a:pt x="97089" y="0"/>
                  <a:pt x="77574" y="0"/>
                </a:cubicBezTo>
                <a:cubicBezTo>
                  <a:pt x="55667" y="0"/>
                  <a:pt x="37883" y="6182"/>
                  <a:pt x="24723" y="18373"/>
                </a:cubicBezTo>
                <a:cubicBezTo>
                  <a:pt x="11571" y="30556"/>
                  <a:pt x="5161" y="46039"/>
                  <a:pt x="5132" y="65700"/>
                </a:cubicBezTo>
                <a:cubicBezTo>
                  <a:pt x="6197" y="89515"/>
                  <a:pt x="16209" y="106503"/>
                  <a:pt x="35740" y="117650"/>
                </a:cubicBezTo>
                <a:cubicBezTo>
                  <a:pt x="46041" y="123347"/>
                  <a:pt x="59466" y="128857"/>
                  <a:pt x="75584" y="133981"/>
                </a:cubicBezTo>
                <a:lnTo>
                  <a:pt x="75644" y="133996"/>
                </a:lnTo>
                <a:lnTo>
                  <a:pt x="75704" y="134018"/>
                </a:lnTo>
                <a:cubicBezTo>
                  <a:pt x="76251" y="134200"/>
                  <a:pt x="76886" y="134390"/>
                  <a:pt x="77597" y="134562"/>
                </a:cubicBezTo>
                <a:cubicBezTo>
                  <a:pt x="78618" y="134827"/>
                  <a:pt x="79519" y="135093"/>
                  <a:pt x="80305" y="135358"/>
                </a:cubicBezTo>
                <a:cubicBezTo>
                  <a:pt x="93368" y="139413"/>
                  <a:pt x="102698" y="143183"/>
                  <a:pt x="108827" y="146867"/>
                </a:cubicBezTo>
                <a:cubicBezTo>
                  <a:pt x="114027" y="149992"/>
                  <a:pt x="120216" y="155486"/>
                  <a:pt x="120216" y="163933"/>
                </a:cubicBezTo>
                <a:cubicBezTo>
                  <a:pt x="120216" y="169070"/>
                  <a:pt x="118264" y="176358"/>
                  <a:pt x="108963" y="181866"/>
                </a:cubicBezTo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2" name="Shape 22"/>
          <p:cNvSpPr/>
          <p:nvPr/>
        </p:nvSpPr>
        <p:spPr>
          <a:xfrm>
            <a:off x="3027904" y="2656577"/>
            <a:ext cx="407279" cy="271685"/>
          </a:xfrm>
          <a:custGeom>
            <a:avLst/>
            <a:gdLst/>
            <a:ahLst/>
            <a:cxnLst/>
            <a:rect l="0" t="0" r="407279" b="271685"/>
            <a:pathLst>
              <a:path w="407279" h="271685" stroke="0">
                <a:moveTo>
                  <a:pt x="314866" y="231433"/>
                </a:moveTo>
                <a:cubicBezTo>
                  <a:pt x="320049" y="225290"/>
                  <a:pt x="324975" y="218887"/>
                  <a:pt x="330484" y="213083"/>
                </a:cubicBezTo>
                <a:cubicBezTo>
                  <a:pt x="335783" y="207513"/>
                  <a:pt x="345605" y="207891"/>
                  <a:pt x="350841" y="213408"/>
                </a:cubicBezTo>
                <a:cubicBezTo>
                  <a:pt x="351682" y="214294"/>
                  <a:pt x="351953" y="215822"/>
                  <a:pt x="352302" y="217108"/>
                </a:cubicBezTo>
                <a:cubicBezTo>
                  <a:pt x="354034" y="223579"/>
                  <a:pt x="355708" y="229943"/>
                  <a:pt x="354890" y="236919"/>
                </a:cubicBezTo>
                <a:cubicBezTo>
                  <a:pt x="355564" y="241574"/>
                  <a:pt x="354768" y="244147"/>
                  <a:pt x="355291" y="249300"/>
                </a:cubicBezTo>
                <a:cubicBezTo>
                  <a:pt x="355586" y="252252"/>
                  <a:pt x="357455" y="255770"/>
                  <a:pt x="360392" y="254666"/>
                </a:cubicBezTo>
                <a:cubicBezTo>
                  <a:pt x="370820" y="250768"/>
                  <a:pt x="377849" y="242512"/>
                  <a:pt x="385522" y="235044"/>
                </a:cubicBezTo>
                <a:cubicBezTo>
                  <a:pt x="391388" y="229336"/>
                  <a:pt x="397153" y="223519"/>
                  <a:pt x="403110" y="217911"/>
                </a:cubicBezTo>
                <a:cubicBezTo>
                  <a:pt x="404101" y="216979"/>
                  <a:pt x="405842" y="216866"/>
                  <a:pt x="407233" y="216374"/>
                </a:cubicBezTo>
                <a:cubicBezTo>
                  <a:pt x="407074" y="217866"/>
                  <a:pt x="407279" y="219530"/>
                  <a:pt x="406696" y="220824"/>
                </a:cubicBezTo>
                <a:cubicBezTo>
                  <a:pt x="400929" y="233786"/>
                  <a:pt x="391811" y="244275"/>
                  <a:pt x="382450" y="254536"/>
                </a:cubicBezTo>
                <a:cubicBezTo>
                  <a:pt x="376427" y="261135"/>
                  <a:pt x="369131" y="265176"/>
                  <a:pt x="360059" y="265889"/>
                </a:cubicBezTo>
                <a:cubicBezTo>
                  <a:pt x="356721" y="266152"/>
                  <a:pt x="354270" y="265306"/>
                  <a:pt x="351849" y="263300"/>
                </a:cubicBezTo>
                <a:cubicBezTo>
                  <a:pt x="343137" y="256104"/>
                  <a:pt x="341767" y="246024"/>
                  <a:pt x="341442" y="235565"/>
                </a:cubicBezTo>
                <a:cubicBezTo>
                  <a:pt x="341337" y="232364"/>
                  <a:pt x="341655" y="229141"/>
                  <a:pt x="341662" y="225925"/>
                </a:cubicBezTo>
                <a:cubicBezTo>
                  <a:pt x="341662" y="225290"/>
                  <a:pt x="341103" y="224646"/>
                  <a:pt x="340799" y="224017"/>
                </a:cubicBezTo>
                <a:cubicBezTo>
                  <a:pt x="340345" y="224358"/>
                  <a:pt x="339869" y="224668"/>
                  <a:pt x="339444" y="225053"/>
                </a:cubicBezTo>
                <a:cubicBezTo>
                  <a:pt x="329281" y="234294"/>
                  <a:pt x="322433" y="245879"/>
                  <a:pt x="316190" y="258078"/>
                </a:cubicBezTo>
                <a:cubicBezTo>
                  <a:pt x="313739" y="262868"/>
                  <a:pt x="309651" y="266886"/>
                  <a:pt x="305831" y="270761"/>
                </a:cubicBezTo>
                <a:cubicBezTo>
                  <a:pt x="304922" y="271685"/>
                  <a:pt x="301683" y="271276"/>
                  <a:pt x="300200" y="270337"/>
                </a:cubicBezTo>
                <a:cubicBezTo>
                  <a:pt x="295924" y="267644"/>
                  <a:pt x="293806" y="263694"/>
                  <a:pt x="295130" y="258236"/>
                </a:cubicBezTo>
                <a:cubicBezTo>
                  <a:pt x="297695" y="247719"/>
                  <a:pt x="300110" y="237147"/>
                  <a:pt x="302524" y="226584"/>
                </a:cubicBezTo>
                <a:cubicBezTo>
                  <a:pt x="302954" y="224706"/>
                  <a:pt x="303092" y="222761"/>
                  <a:pt x="303363" y="220847"/>
                </a:cubicBezTo>
                <a:cubicBezTo>
                  <a:pt x="301631" y="221944"/>
                  <a:pt x="299791" y="222897"/>
                  <a:pt x="298173" y="224162"/>
                </a:cubicBezTo>
                <a:cubicBezTo>
                  <a:pt x="288539" y="231669"/>
                  <a:pt x="279269" y="239736"/>
                  <a:pt x="269211" y="246584"/>
                </a:cubicBezTo>
                <a:cubicBezTo>
                  <a:pt x="264831" y="249573"/>
                  <a:pt x="258928" y="250427"/>
                  <a:pt x="253593" y="251706"/>
                </a:cubicBezTo>
                <a:cubicBezTo>
                  <a:pt x="248818" y="252849"/>
                  <a:pt x="244709" y="250927"/>
                  <a:pt x="241673" y="247014"/>
                </a:cubicBezTo>
                <a:cubicBezTo>
                  <a:pt x="239168" y="243790"/>
                  <a:pt x="236808" y="240447"/>
                  <a:pt x="234486" y="237085"/>
                </a:cubicBezTo>
                <a:cubicBezTo>
                  <a:pt x="233440" y="235572"/>
                  <a:pt x="233038" y="234249"/>
                  <a:pt x="231049" y="236564"/>
                </a:cubicBezTo>
                <a:cubicBezTo>
                  <a:pt x="224867" y="243783"/>
                  <a:pt x="217322" y="249339"/>
                  <a:pt x="208627" y="252940"/>
                </a:cubicBezTo>
                <a:cubicBezTo>
                  <a:pt x="199933" y="256549"/>
                  <a:pt x="191819" y="254226"/>
                  <a:pt x="184594" y="248740"/>
                </a:cubicBezTo>
                <a:cubicBezTo>
                  <a:pt x="182982" y="247514"/>
                  <a:pt x="182126" y="244957"/>
                  <a:pt x="181415" y="242837"/>
                </a:cubicBezTo>
                <a:cubicBezTo>
                  <a:pt x="180891" y="241293"/>
                  <a:pt x="179425" y="240840"/>
                  <a:pt x="178152" y="241845"/>
                </a:cubicBezTo>
                <a:cubicBezTo>
                  <a:pt x="172455" y="246334"/>
                  <a:pt x="166757" y="250881"/>
                  <a:pt x="160732" y="254885"/>
                </a:cubicBezTo>
                <a:cubicBezTo>
                  <a:pt x="157668" y="256921"/>
                  <a:pt x="154006" y="258229"/>
                  <a:pt x="150442" y="259221"/>
                </a:cubicBezTo>
                <a:cubicBezTo>
                  <a:pt x="137706" y="262741"/>
                  <a:pt x="129562" y="254771"/>
                  <a:pt x="129570" y="242496"/>
                </a:cubicBezTo>
                <a:cubicBezTo>
                  <a:pt x="129577" y="233128"/>
                  <a:pt x="131923" y="223745"/>
                  <a:pt x="133407" y="214398"/>
                </a:cubicBezTo>
                <a:cubicBezTo>
                  <a:pt x="134051" y="210328"/>
                  <a:pt x="135238" y="206347"/>
                  <a:pt x="135949" y="202290"/>
                </a:cubicBezTo>
                <a:cubicBezTo>
                  <a:pt x="136600" y="198613"/>
                  <a:pt x="135162" y="197192"/>
                  <a:pt x="132173" y="198947"/>
                </a:cubicBezTo>
                <a:cubicBezTo>
                  <a:pt x="125453" y="202889"/>
                  <a:pt x="118847" y="207104"/>
                  <a:pt x="112522" y="211674"/>
                </a:cubicBezTo>
                <a:cubicBezTo>
                  <a:pt x="107715" y="215140"/>
                  <a:pt x="107208" y="220983"/>
                  <a:pt x="106239" y="226425"/>
                </a:cubicBezTo>
                <a:cubicBezTo>
                  <a:pt x="105491" y="230631"/>
                  <a:pt x="104870" y="234885"/>
                  <a:pt x="103804" y="239009"/>
                </a:cubicBezTo>
                <a:cubicBezTo>
                  <a:pt x="102555" y="243798"/>
                  <a:pt x="101018" y="244480"/>
                  <a:pt x="96136" y="243209"/>
                </a:cubicBezTo>
                <a:cubicBezTo>
                  <a:pt x="91559" y="242012"/>
                  <a:pt x="90704" y="240923"/>
                  <a:pt x="91696" y="236080"/>
                </a:cubicBezTo>
                <a:cubicBezTo>
                  <a:pt x="94988" y="219892"/>
                  <a:pt x="98204" y="203683"/>
                  <a:pt x="101919" y="187596"/>
                </a:cubicBezTo>
                <a:cubicBezTo>
                  <a:pt x="104908" y="174648"/>
                  <a:pt x="108593" y="161873"/>
                  <a:pt x="111931" y="149010"/>
                </a:cubicBezTo>
                <a:cubicBezTo>
                  <a:pt x="112256" y="147745"/>
                  <a:pt x="112309" y="146414"/>
                  <a:pt x="112483" y="145120"/>
                </a:cubicBezTo>
                <a:cubicBezTo>
                  <a:pt x="111265" y="145612"/>
                  <a:pt x="109986" y="146005"/>
                  <a:pt x="108827" y="146617"/>
                </a:cubicBezTo>
                <a:cubicBezTo>
                  <a:pt x="94277" y="154306"/>
                  <a:pt x="78755" y="158673"/>
                  <a:pt x="62575" y="160686"/>
                </a:cubicBezTo>
                <a:cubicBezTo>
                  <a:pt x="59503" y="161064"/>
                  <a:pt x="57641" y="162131"/>
                  <a:pt x="56787" y="165295"/>
                </a:cubicBezTo>
                <a:cubicBezTo>
                  <a:pt x="54191" y="174867"/>
                  <a:pt x="51082" y="184311"/>
                  <a:pt x="48840" y="193968"/>
                </a:cubicBezTo>
                <a:cubicBezTo>
                  <a:pt x="46299" y="204879"/>
                  <a:pt x="43536" y="215898"/>
                  <a:pt x="42658" y="227014"/>
                </a:cubicBezTo>
                <a:cubicBezTo>
                  <a:pt x="42023" y="235127"/>
                  <a:pt x="43619" y="243631"/>
                  <a:pt x="45481" y="251661"/>
                </a:cubicBezTo>
                <a:cubicBezTo>
                  <a:pt x="46827" y="257450"/>
                  <a:pt x="52829" y="259379"/>
                  <a:pt x="59654" y="257890"/>
                </a:cubicBezTo>
                <a:cubicBezTo>
                  <a:pt x="60745" y="257655"/>
                  <a:pt x="61888" y="257640"/>
                  <a:pt x="63007" y="257518"/>
                </a:cubicBezTo>
                <a:cubicBezTo>
                  <a:pt x="62750" y="258934"/>
                  <a:pt x="62825" y="260530"/>
                  <a:pt x="62190" y="261733"/>
                </a:cubicBezTo>
                <a:cubicBezTo>
                  <a:pt x="58693" y="268394"/>
                  <a:pt x="54290" y="269112"/>
                  <a:pt x="47366" y="266274"/>
                </a:cubicBezTo>
                <a:cubicBezTo>
                  <a:pt x="39313" y="262975"/>
                  <a:pt x="34228" y="256353"/>
                  <a:pt x="31217" y="248120"/>
                </a:cubicBezTo>
                <a:cubicBezTo>
                  <a:pt x="27236" y="237252"/>
                  <a:pt x="26858" y="226022"/>
                  <a:pt x="27902" y="214596"/>
                </a:cubicBezTo>
                <a:cubicBezTo>
                  <a:pt x="29249" y="199733"/>
                  <a:pt x="32964" y="185446"/>
                  <a:pt x="37271" y="171273"/>
                </a:cubicBezTo>
                <a:cubicBezTo>
                  <a:pt x="39677" y="163342"/>
                  <a:pt x="39594" y="163857"/>
                  <a:pt x="31316" y="163115"/>
                </a:cubicBezTo>
                <a:cubicBezTo>
                  <a:pt x="23164" y="162381"/>
                  <a:pt x="15091" y="160603"/>
                  <a:pt x="7069" y="158855"/>
                </a:cubicBezTo>
                <a:cubicBezTo>
                  <a:pt x="5238" y="158454"/>
                  <a:pt x="3322" y="156621"/>
                  <a:pt x="2809" y="154775"/>
                </a:cubicBezTo>
                <a:cubicBezTo>
                  <a:pt x="1461" y="149955"/>
                  <a:pt x="0" y="144855"/>
                  <a:pt x="3528" y="140209"/>
                </a:cubicBezTo>
                <a:cubicBezTo>
                  <a:pt x="3989" y="139603"/>
                  <a:pt x="5358" y="138861"/>
                  <a:pt x="5577" y="139051"/>
                </a:cubicBezTo>
                <a:cubicBezTo>
                  <a:pt x="11064" y="143894"/>
                  <a:pt x="18216" y="144347"/>
                  <a:pt x="24679" y="146459"/>
                </a:cubicBezTo>
                <a:cubicBezTo>
                  <a:pt x="29007" y="147875"/>
                  <a:pt x="33743" y="147950"/>
                  <a:pt x="38292" y="148698"/>
                </a:cubicBezTo>
                <a:cubicBezTo>
                  <a:pt x="42372" y="149372"/>
                  <a:pt x="44195" y="147662"/>
                  <a:pt x="45624" y="143584"/>
                </a:cubicBezTo>
                <a:cubicBezTo>
                  <a:pt x="54970" y="116946"/>
                  <a:pt x="64635" y="90429"/>
                  <a:pt x="74245" y="63891"/>
                </a:cubicBezTo>
                <a:cubicBezTo>
                  <a:pt x="75886" y="59381"/>
                  <a:pt x="77878" y="54999"/>
                  <a:pt x="79573" y="50512"/>
                </a:cubicBezTo>
                <a:cubicBezTo>
                  <a:pt x="80328" y="48499"/>
                  <a:pt x="82531" y="47515"/>
                  <a:pt x="84513" y="48234"/>
                </a:cubicBezTo>
                <a:cubicBezTo>
                  <a:pt x="89705" y="50127"/>
                  <a:pt x="92014" y="54863"/>
                  <a:pt x="95389" y="58519"/>
                </a:cubicBezTo>
                <a:cubicBezTo>
                  <a:pt x="95985" y="59162"/>
                  <a:pt x="95865" y="60849"/>
                  <a:pt x="95584" y="61917"/>
                </a:cubicBezTo>
                <a:cubicBezTo>
                  <a:pt x="95168" y="63521"/>
                  <a:pt x="94313" y="65010"/>
                  <a:pt x="93647" y="66547"/>
                </a:cubicBezTo>
                <a:cubicBezTo>
                  <a:pt x="88335" y="78852"/>
                  <a:pt x="82773" y="91043"/>
                  <a:pt x="77794" y="103484"/>
                </a:cubicBezTo>
                <a:cubicBezTo>
                  <a:pt x="74154" y="112557"/>
                  <a:pt x="71285" y="121948"/>
                  <a:pt x="68077" y="131195"/>
                </a:cubicBezTo>
                <a:cubicBezTo>
                  <a:pt x="66450" y="135879"/>
                  <a:pt x="64854" y="140571"/>
                  <a:pt x="63197" y="145240"/>
                </a:cubicBezTo>
                <a:cubicBezTo>
                  <a:pt x="62531" y="147110"/>
                  <a:pt x="63052" y="147768"/>
                  <a:pt x="64968" y="147518"/>
                </a:cubicBezTo>
                <a:cubicBezTo>
                  <a:pt x="83289" y="145180"/>
                  <a:pt x="100891" y="140624"/>
                  <a:pt x="116402" y="129825"/>
                </a:cubicBezTo>
                <a:cubicBezTo>
                  <a:pt x="117628" y="128971"/>
                  <a:pt x="118498" y="127291"/>
                  <a:pt x="119089" y="125815"/>
                </a:cubicBezTo>
                <a:cubicBezTo>
                  <a:pt x="123531" y="114608"/>
                  <a:pt x="127231" y="103045"/>
                  <a:pt x="132371" y="92192"/>
                </a:cubicBezTo>
                <a:cubicBezTo>
                  <a:pt x="139279" y="77634"/>
                  <a:pt x="147392" y="63672"/>
                  <a:pt x="154710" y="49309"/>
                </a:cubicBezTo>
                <a:cubicBezTo>
                  <a:pt x="156337" y="46114"/>
                  <a:pt x="158365" y="42461"/>
                  <a:pt x="160550" y="39388"/>
                </a:cubicBezTo>
                <a:cubicBezTo>
                  <a:pt x="162307" y="36928"/>
                  <a:pt x="163995" y="34415"/>
                  <a:pt x="165500" y="31798"/>
                </a:cubicBezTo>
                <a:cubicBezTo>
                  <a:pt x="167414" y="28460"/>
                  <a:pt x="171918" y="23974"/>
                  <a:pt x="173272" y="21945"/>
                </a:cubicBezTo>
                <a:cubicBezTo>
                  <a:pt x="180378" y="13491"/>
                  <a:pt x="184654" y="9481"/>
                  <a:pt x="196103" y="3404"/>
                </a:cubicBezTo>
                <a:cubicBezTo>
                  <a:pt x="202149" y="196"/>
                  <a:pt x="208408" y="0"/>
                  <a:pt x="214666" y="3307"/>
                </a:cubicBezTo>
                <a:cubicBezTo>
                  <a:pt x="218011" y="5070"/>
                  <a:pt x="220394" y="7611"/>
                  <a:pt x="220644" y="11327"/>
                </a:cubicBezTo>
                <a:cubicBezTo>
                  <a:pt x="220909" y="15331"/>
                  <a:pt x="220985" y="19568"/>
                  <a:pt x="219993" y="23398"/>
                </a:cubicBezTo>
                <a:cubicBezTo>
                  <a:pt x="217134" y="42966"/>
                  <a:pt x="207409" y="53335"/>
                  <a:pt x="196459" y="65555"/>
                </a:cubicBezTo>
                <a:cubicBezTo>
                  <a:pt x="181279" y="82500"/>
                  <a:pt x="166128" y="99480"/>
                  <a:pt x="150721" y="116197"/>
                </a:cubicBezTo>
                <a:cubicBezTo>
                  <a:pt x="146747" y="120511"/>
                  <a:pt x="141898" y="124014"/>
                  <a:pt x="137334" y="127729"/>
                </a:cubicBezTo>
                <a:cubicBezTo>
                  <a:pt x="132559" y="131619"/>
                  <a:pt x="129018" y="135918"/>
                  <a:pt x="127421" y="142388"/>
                </a:cubicBezTo>
                <a:cubicBezTo>
                  <a:pt x="123508" y="158249"/>
                  <a:pt x="118748" y="173882"/>
                  <a:pt x="114353" y="189617"/>
                </a:cubicBezTo>
                <a:cubicBezTo>
                  <a:pt x="113837" y="191471"/>
                  <a:pt x="113459" y="193362"/>
                  <a:pt x="113020" y="195239"/>
                </a:cubicBezTo>
                <a:cubicBezTo>
                  <a:pt x="114624" y="194187"/>
                  <a:pt x="116230" y="193143"/>
                  <a:pt x="117826" y="192075"/>
                </a:cubicBezTo>
                <a:cubicBezTo>
                  <a:pt x="123963" y="187951"/>
                  <a:pt x="130010" y="183501"/>
                  <a:pt x="137683" y="183032"/>
                </a:cubicBezTo>
                <a:cubicBezTo>
                  <a:pt x="140339" y="182866"/>
                  <a:pt x="143161" y="182941"/>
                  <a:pt x="145666" y="183722"/>
                </a:cubicBezTo>
                <a:cubicBezTo>
                  <a:pt x="149585" y="184938"/>
                  <a:pt x="152220" y="188094"/>
                  <a:pt x="151856" y="192317"/>
                </a:cubicBezTo>
                <a:cubicBezTo>
                  <a:pt x="151220" y="199741"/>
                  <a:pt x="150048" y="207128"/>
                  <a:pt x="148822" y="214482"/>
                </a:cubicBezTo>
                <a:cubicBezTo>
                  <a:pt x="147505" y="222322"/>
                  <a:pt x="145567" y="230049"/>
                  <a:pt x="144463" y="237911"/>
                </a:cubicBezTo>
                <a:cubicBezTo>
                  <a:pt x="143192" y="246878"/>
                  <a:pt x="146536" y="249482"/>
                  <a:pt x="154830" y="246204"/>
                </a:cubicBezTo>
                <a:cubicBezTo>
                  <a:pt x="158032" y="244933"/>
                  <a:pt x="160990" y="243103"/>
                  <a:pt x="163609" y="240824"/>
                </a:cubicBezTo>
                <a:cubicBezTo>
                  <a:pt x="170744" y="234604"/>
                  <a:pt x="177668" y="228118"/>
                  <a:pt x="184586" y="221626"/>
                </a:cubicBezTo>
                <a:cubicBezTo>
                  <a:pt x="185985" y="220309"/>
                  <a:pt x="186878" y="218447"/>
                  <a:pt x="188088" y="216897"/>
                </a:cubicBezTo>
                <a:cubicBezTo>
                  <a:pt x="194415" y="208753"/>
                  <a:pt x="200386" y="200272"/>
                  <a:pt x="207234" y="192620"/>
                </a:cubicBezTo>
                <a:cubicBezTo>
                  <a:pt x="213432" y="185711"/>
                  <a:pt x="221280" y="183191"/>
                  <a:pt x="230528" y="186695"/>
                </a:cubicBezTo>
                <a:cubicBezTo>
                  <a:pt x="239608" y="190130"/>
                  <a:pt x="242483" y="196533"/>
                  <a:pt x="238337" y="205394"/>
                </a:cubicBezTo>
                <a:cubicBezTo>
                  <a:pt x="238019" y="206076"/>
                  <a:pt x="237777" y="206795"/>
                  <a:pt x="237496" y="207505"/>
                </a:cubicBezTo>
                <a:cubicBezTo>
                  <a:pt x="237467" y="207597"/>
                  <a:pt x="237429" y="207695"/>
                  <a:pt x="237398" y="207792"/>
                </a:cubicBezTo>
                <a:cubicBezTo>
                  <a:pt x="237405" y="207672"/>
                  <a:pt x="237413" y="207558"/>
                  <a:pt x="237429" y="207438"/>
                </a:cubicBezTo>
                <a:cubicBezTo>
                  <a:pt x="238845" y="207021"/>
                  <a:pt x="240274" y="206649"/>
                  <a:pt x="241667" y="206165"/>
                </a:cubicBezTo>
                <a:cubicBezTo>
                  <a:pt x="246812" y="204381"/>
                  <a:pt x="250307" y="206733"/>
                  <a:pt x="250391" y="212310"/>
                </a:cubicBezTo>
                <a:cubicBezTo>
                  <a:pt x="250429" y="214406"/>
                  <a:pt x="250051" y="216572"/>
                  <a:pt x="249499" y="218598"/>
                </a:cubicBezTo>
                <a:cubicBezTo>
                  <a:pt x="248000" y="224092"/>
                  <a:pt x="248083" y="229451"/>
                  <a:pt x="250080" y="234786"/>
                </a:cubicBezTo>
                <a:cubicBezTo>
                  <a:pt x="251708" y="239145"/>
                  <a:pt x="253380" y="240371"/>
                  <a:pt x="257491" y="238660"/>
                </a:cubicBezTo>
                <a:cubicBezTo>
                  <a:pt x="261871" y="236830"/>
                  <a:pt x="266071" y="234408"/>
                  <a:pt x="270089" y="231828"/>
                </a:cubicBezTo>
                <a:cubicBezTo>
                  <a:pt x="280465" y="225152"/>
                  <a:pt x="290651" y="218176"/>
                  <a:pt x="301025" y="211516"/>
                </a:cubicBezTo>
                <a:cubicBezTo>
                  <a:pt x="303378" y="210003"/>
                  <a:pt x="304634" y="208505"/>
                  <a:pt x="304717" y="205493"/>
                </a:cubicBezTo>
                <a:cubicBezTo>
                  <a:pt x="304847" y="201051"/>
                  <a:pt x="306360" y="200264"/>
                  <a:pt x="310529" y="201452"/>
                </a:cubicBezTo>
                <a:cubicBezTo>
                  <a:pt x="311870" y="201837"/>
                  <a:pt x="313367" y="202215"/>
                  <a:pt x="314684" y="201973"/>
                </a:cubicBezTo>
                <a:cubicBezTo>
                  <a:pt x="317567" y="201444"/>
                  <a:pt x="319293" y="202548"/>
                  <a:pt x="318877" y="205553"/>
                </a:cubicBezTo>
                <a:cubicBezTo>
                  <a:pt x="317765" y="213588"/>
                  <a:pt x="316395" y="221582"/>
                  <a:pt x="315124" y="229594"/>
                </a:cubicBezTo>
                <a:cubicBezTo>
                  <a:pt x="315025" y="230200"/>
                  <a:pt x="314958" y="230805"/>
                  <a:pt x="314874" y="231411"/>
                </a:cubicBezTo>
                <a:lnTo>
                  <a:pt x="314708" y="231586"/>
                </a:lnTo>
                <a:close/>
                <a:moveTo>
                  <a:pt x="208656" y="20045"/>
                </a:moveTo>
                <a:cubicBezTo>
                  <a:pt x="208612" y="19084"/>
                  <a:pt x="208643" y="17691"/>
                  <a:pt x="208445" y="16337"/>
                </a:cubicBezTo>
                <a:cubicBezTo>
                  <a:pt x="207810" y="11941"/>
                  <a:pt x="206424" y="11252"/>
                  <a:pt x="202521" y="13340"/>
                </a:cubicBezTo>
                <a:cubicBezTo>
                  <a:pt x="196293" y="16678"/>
                  <a:pt x="191388" y="21482"/>
                  <a:pt x="187341" y="27348"/>
                </a:cubicBezTo>
                <a:cubicBezTo>
                  <a:pt x="184690" y="31192"/>
                  <a:pt x="181740" y="34840"/>
                  <a:pt x="178879" y="38532"/>
                </a:cubicBezTo>
                <a:cubicBezTo>
                  <a:pt x="176564" y="41521"/>
                  <a:pt x="173939" y="44284"/>
                  <a:pt x="171871" y="47440"/>
                </a:cubicBezTo>
                <a:cubicBezTo>
                  <a:pt x="166968" y="54915"/>
                  <a:pt x="162511" y="62711"/>
                  <a:pt x="157517" y="70135"/>
                </a:cubicBezTo>
                <a:cubicBezTo>
                  <a:pt x="148838" y="83052"/>
                  <a:pt x="143925" y="97845"/>
                  <a:pt x="137228" y="111755"/>
                </a:cubicBezTo>
                <a:cubicBezTo>
                  <a:pt x="136956" y="112314"/>
                  <a:pt x="137115" y="113087"/>
                  <a:pt x="137069" y="113760"/>
                </a:cubicBezTo>
                <a:cubicBezTo>
                  <a:pt x="137545" y="113413"/>
                  <a:pt x="138076" y="113116"/>
                  <a:pt x="138485" y="112700"/>
                </a:cubicBezTo>
                <a:cubicBezTo>
                  <a:pt x="145448" y="105747"/>
                  <a:pt x="152507" y="98897"/>
                  <a:pt x="159310" y="91785"/>
                </a:cubicBezTo>
                <a:cubicBezTo>
                  <a:pt x="166825" y="83922"/>
                  <a:pt x="174340" y="76022"/>
                  <a:pt x="181422" y="67750"/>
                </a:cubicBezTo>
                <a:cubicBezTo>
                  <a:pt x="187908" y="60175"/>
                  <a:pt x="194204" y="52358"/>
                  <a:pt x="199871" y="44133"/>
                </a:cubicBezTo>
                <a:cubicBezTo>
                  <a:pt x="204685" y="37139"/>
                  <a:pt x="208581" y="29460"/>
                  <a:pt x="208656" y="20045"/>
                </a:cubicBezTo>
                <a:moveTo>
                  <a:pt x="198154" y="241491"/>
                </a:moveTo>
                <a:cubicBezTo>
                  <a:pt x="204896" y="241444"/>
                  <a:pt x="211018" y="238804"/>
                  <a:pt x="215785" y="233484"/>
                </a:cubicBezTo>
                <a:cubicBezTo>
                  <a:pt x="220931" y="227725"/>
                  <a:pt x="225789" y="221694"/>
                  <a:pt x="230679" y="215692"/>
                </a:cubicBezTo>
                <a:cubicBezTo>
                  <a:pt x="231057" y="215231"/>
                  <a:pt x="230981" y="213643"/>
                  <a:pt x="230588" y="213370"/>
                </a:cubicBezTo>
                <a:cubicBezTo>
                  <a:pt x="227083" y="210903"/>
                  <a:pt x="227326" y="207029"/>
                  <a:pt x="226849" y="203457"/>
                </a:cubicBezTo>
                <a:cubicBezTo>
                  <a:pt x="226592" y="201475"/>
                  <a:pt x="226706" y="199439"/>
                  <a:pt x="226653" y="197426"/>
                </a:cubicBezTo>
                <a:cubicBezTo>
                  <a:pt x="224495" y="198402"/>
                  <a:pt x="222233" y="199189"/>
                  <a:pt x="220220" y="200407"/>
                </a:cubicBezTo>
                <a:cubicBezTo>
                  <a:pt x="218434" y="201488"/>
                  <a:pt x="216845" y="202949"/>
                  <a:pt x="215317" y="204410"/>
                </a:cubicBezTo>
                <a:cubicBezTo>
                  <a:pt x="205842" y="213445"/>
                  <a:pt x="198949" y="224259"/>
                  <a:pt x="194371" y="236617"/>
                </a:cubicBezTo>
                <a:cubicBezTo>
                  <a:pt x="192509" y="241619"/>
                  <a:pt x="192653" y="241762"/>
                  <a:pt x="198154" y="241491"/>
                </a:cubicBezTo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3" name="Shape 23"/>
          <p:cNvSpPr/>
          <p:nvPr/>
        </p:nvSpPr>
        <p:spPr>
          <a:xfrm>
            <a:off x="3506242" y="2848425"/>
            <a:ext cx="152437" cy="79610"/>
          </a:xfrm>
          <a:custGeom>
            <a:avLst/>
            <a:gdLst/>
            <a:ahLst/>
            <a:cxnLst/>
            <a:rect l="0" t="0" r="152437" b="79610"/>
            <a:pathLst>
              <a:path w="152437" h="79610" stroke="0">
                <a:moveTo>
                  <a:pt x="78972" y="74327"/>
                </a:moveTo>
                <a:cubicBezTo>
                  <a:pt x="74660" y="74871"/>
                  <a:pt x="71132" y="73230"/>
                  <a:pt x="68476" y="69999"/>
                </a:cubicBezTo>
                <a:cubicBezTo>
                  <a:pt x="65351" y="66192"/>
                  <a:pt x="62513" y="62120"/>
                  <a:pt x="59652" y="58087"/>
                </a:cubicBezTo>
                <a:cubicBezTo>
                  <a:pt x="58524" y="56506"/>
                  <a:pt x="57881" y="55499"/>
                  <a:pt x="56081" y="57618"/>
                </a:cubicBezTo>
                <a:cubicBezTo>
                  <a:pt x="49679" y="65117"/>
                  <a:pt x="41802" y="70770"/>
                  <a:pt x="33030" y="74933"/>
                </a:cubicBezTo>
                <a:cubicBezTo>
                  <a:pt x="23185" y="79610"/>
                  <a:pt x="13650" y="77483"/>
                  <a:pt x="5492" y="70975"/>
                </a:cubicBezTo>
                <a:cubicBezTo>
                  <a:pt x="846" y="67273"/>
                  <a:pt x="0" y="61136"/>
                  <a:pt x="1838" y="55324"/>
                </a:cubicBezTo>
                <a:cubicBezTo>
                  <a:pt x="5007" y="45336"/>
                  <a:pt x="8952" y="36618"/>
                  <a:pt x="15157" y="27158"/>
                </a:cubicBezTo>
                <a:cubicBezTo>
                  <a:pt x="21498" y="19592"/>
                  <a:pt x="26046" y="13818"/>
                  <a:pt x="32153" y="7861"/>
                </a:cubicBezTo>
                <a:cubicBezTo>
                  <a:pt x="39167" y="1029"/>
                  <a:pt x="47622" y="0"/>
                  <a:pt x="56686" y="3814"/>
                </a:cubicBezTo>
                <a:cubicBezTo>
                  <a:pt x="65344" y="7460"/>
                  <a:pt x="68189" y="14529"/>
                  <a:pt x="64172" y="23148"/>
                </a:cubicBezTo>
                <a:cubicBezTo>
                  <a:pt x="63763" y="24041"/>
                  <a:pt x="63398" y="24958"/>
                  <a:pt x="63013" y="25864"/>
                </a:cubicBezTo>
                <a:cubicBezTo>
                  <a:pt x="64019" y="25622"/>
                  <a:pt x="65018" y="25213"/>
                  <a:pt x="66031" y="25161"/>
                </a:cubicBezTo>
                <a:cubicBezTo>
                  <a:pt x="68794" y="25018"/>
                  <a:pt x="72048" y="24049"/>
                  <a:pt x="74228" y="25184"/>
                </a:cubicBezTo>
                <a:cubicBezTo>
                  <a:pt x="77566" y="26909"/>
                  <a:pt x="78003" y="30861"/>
                  <a:pt x="77043" y="34493"/>
                </a:cubicBezTo>
                <a:cubicBezTo>
                  <a:pt x="75491" y="40334"/>
                  <a:pt x="74280" y="46109"/>
                  <a:pt x="75628" y="52223"/>
                </a:cubicBezTo>
                <a:cubicBezTo>
                  <a:pt x="77504" y="60743"/>
                  <a:pt x="80962" y="62953"/>
                  <a:pt x="88288" y="58610"/>
                </a:cubicBezTo>
                <a:cubicBezTo>
                  <a:pt x="98996" y="52246"/>
                  <a:pt x="109273" y="45125"/>
                  <a:pt x="119701" y="38269"/>
                </a:cubicBezTo>
                <a:cubicBezTo>
                  <a:pt x="128479" y="32494"/>
                  <a:pt x="137165" y="26577"/>
                  <a:pt x="146013" y="20909"/>
                </a:cubicBezTo>
                <a:cubicBezTo>
                  <a:pt x="147200" y="20151"/>
                  <a:pt x="149637" y="19781"/>
                  <a:pt x="150523" y="20492"/>
                </a:cubicBezTo>
                <a:cubicBezTo>
                  <a:pt x="152437" y="22029"/>
                  <a:pt x="152119" y="24315"/>
                  <a:pt x="150289" y="26093"/>
                </a:cubicBezTo>
                <a:cubicBezTo>
                  <a:pt x="146511" y="29754"/>
                  <a:pt x="142925" y="33668"/>
                  <a:pt x="138876" y="36990"/>
                </a:cubicBezTo>
                <a:cubicBezTo>
                  <a:pt x="127948" y="45950"/>
                  <a:pt x="116809" y="54652"/>
                  <a:pt x="105776" y="63474"/>
                </a:cubicBezTo>
                <a:cubicBezTo>
                  <a:pt x="97868" y="69794"/>
                  <a:pt x="88984" y="73562"/>
                  <a:pt x="78972" y="74327"/>
                </a:cubicBezTo>
                <a:moveTo>
                  <a:pt x="52077" y="16178"/>
                </a:moveTo>
                <a:cubicBezTo>
                  <a:pt x="51579" y="15831"/>
                  <a:pt x="51382" y="15688"/>
                  <a:pt x="50882" y="15331"/>
                </a:cubicBezTo>
                <a:cubicBezTo>
                  <a:pt x="49278" y="15891"/>
                  <a:pt x="47682" y="16436"/>
                  <a:pt x="46085" y="17003"/>
                </a:cubicBezTo>
                <a:cubicBezTo>
                  <a:pt x="45835" y="17094"/>
                  <a:pt x="45601" y="17222"/>
                  <a:pt x="45380" y="17381"/>
                </a:cubicBezTo>
                <a:cubicBezTo>
                  <a:pt x="30731" y="28106"/>
                  <a:pt x="21377" y="42755"/>
                  <a:pt x="15300" y="59821"/>
                </a:cubicBezTo>
                <a:cubicBezTo>
                  <a:pt x="14423" y="62294"/>
                  <a:pt x="15331" y="63135"/>
                  <a:pt x="17737" y="63151"/>
                </a:cubicBezTo>
                <a:cubicBezTo>
                  <a:pt x="25388" y="63219"/>
                  <a:pt x="32524" y="61365"/>
                  <a:pt x="37904" y="55681"/>
                </a:cubicBezTo>
                <a:cubicBezTo>
                  <a:pt x="44133" y="49090"/>
                  <a:pt x="49801" y="41946"/>
                  <a:pt x="55597" y="34946"/>
                </a:cubicBezTo>
                <a:cubicBezTo>
                  <a:pt x="56014" y="34446"/>
                  <a:pt x="55868" y="32715"/>
                  <a:pt x="55384" y="32327"/>
                </a:cubicBezTo>
                <a:cubicBezTo>
                  <a:pt x="50216" y="28181"/>
                  <a:pt x="52358" y="21779"/>
                  <a:pt x="52077" y="16178"/>
                </a:cubicBezTo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4" name="Shape 24"/>
          <p:cNvSpPr/>
          <p:nvPr/>
        </p:nvSpPr>
        <p:spPr>
          <a:xfrm>
            <a:off x="2853923" y="2836552"/>
            <a:ext cx="100162" cy="79563"/>
          </a:xfrm>
          <a:custGeom>
            <a:avLst/>
            <a:gdLst/>
            <a:ahLst/>
            <a:cxnLst/>
            <a:rect l="0" t="0" r="100162" b="79563"/>
            <a:pathLst>
              <a:path w="100162" h="79563" stroke="0">
                <a:moveTo>
                  <a:pt x="25132" y="63831"/>
                </a:moveTo>
                <a:cubicBezTo>
                  <a:pt x="32790" y="64028"/>
                  <a:pt x="39503" y="62052"/>
                  <a:pt x="46192" y="59373"/>
                </a:cubicBezTo>
                <a:cubicBezTo>
                  <a:pt x="64505" y="52048"/>
                  <a:pt x="80729" y="41107"/>
                  <a:pt x="96756" y="29754"/>
                </a:cubicBezTo>
                <a:cubicBezTo>
                  <a:pt x="96764" y="29747"/>
                  <a:pt x="96780" y="29739"/>
                  <a:pt x="96787" y="29733"/>
                </a:cubicBezTo>
                <a:cubicBezTo>
                  <a:pt x="98308" y="28689"/>
                  <a:pt x="100162" y="30715"/>
                  <a:pt x="99133" y="32267"/>
                </a:cubicBezTo>
                <a:cubicBezTo>
                  <a:pt x="99027" y="32426"/>
                  <a:pt x="98907" y="32577"/>
                  <a:pt x="98769" y="32707"/>
                </a:cubicBezTo>
                <a:cubicBezTo>
                  <a:pt x="93012" y="37891"/>
                  <a:pt x="88448" y="43861"/>
                  <a:pt x="84232" y="50497"/>
                </a:cubicBezTo>
                <a:cubicBezTo>
                  <a:pt x="81084" y="55439"/>
                  <a:pt x="75243" y="58602"/>
                  <a:pt x="70559" y="62500"/>
                </a:cubicBezTo>
                <a:cubicBezTo>
                  <a:pt x="69650" y="63248"/>
                  <a:pt x="68439" y="63635"/>
                  <a:pt x="67546" y="64398"/>
                </a:cubicBezTo>
                <a:cubicBezTo>
                  <a:pt x="55256" y="71754"/>
                  <a:pt x="46213" y="75016"/>
                  <a:pt x="34514" y="77362"/>
                </a:cubicBezTo>
                <a:cubicBezTo>
                  <a:pt x="23588" y="79563"/>
                  <a:pt x="8044" y="71473"/>
                  <a:pt x="3466" y="61394"/>
                </a:cubicBezTo>
                <a:cubicBezTo>
                  <a:pt x="0" y="53774"/>
                  <a:pt x="575" y="45783"/>
                  <a:pt x="2588" y="37897"/>
                </a:cubicBezTo>
                <a:cubicBezTo>
                  <a:pt x="5911" y="24867"/>
                  <a:pt x="14204" y="15029"/>
                  <a:pt x="24080" y="7067"/>
                </a:cubicBezTo>
                <a:cubicBezTo>
                  <a:pt x="30361" y="1990"/>
                  <a:pt x="38503" y="0"/>
                  <a:pt x="46312" y="5510"/>
                </a:cubicBezTo>
                <a:cubicBezTo>
                  <a:pt x="48863" y="7309"/>
                  <a:pt x="51587" y="8884"/>
                  <a:pt x="53955" y="10889"/>
                </a:cubicBezTo>
                <a:cubicBezTo>
                  <a:pt x="59139" y="15287"/>
                  <a:pt x="59987" y="21513"/>
                  <a:pt x="55386" y="26380"/>
                </a:cubicBezTo>
                <a:cubicBezTo>
                  <a:pt x="49400" y="32714"/>
                  <a:pt x="43028" y="38730"/>
                  <a:pt x="36300" y="44224"/>
                </a:cubicBezTo>
                <a:cubicBezTo>
                  <a:pt x="30382" y="49059"/>
                  <a:pt x="23716" y="52918"/>
                  <a:pt x="17503" y="57384"/>
                </a:cubicBezTo>
                <a:cubicBezTo>
                  <a:pt x="16837" y="57860"/>
                  <a:pt x="16496" y="59722"/>
                  <a:pt x="16837" y="60592"/>
                </a:cubicBezTo>
                <a:cubicBezTo>
                  <a:pt x="18503" y="64838"/>
                  <a:pt x="22187" y="64036"/>
                  <a:pt x="25132" y="63831"/>
                </a:cubicBezTo>
                <a:moveTo>
                  <a:pt x="44822" y="15074"/>
                </a:moveTo>
                <a:cubicBezTo>
                  <a:pt x="44497" y="13417"/>
                  <a:pt x="42703" y="12517"/>
                  <a:pt x="41120" y="13024"/>
                </a:cubicBezTo>
                <a:cubicBezTo>
                  <a:pt x="40865" y="13100"/>
                  <a:pt x="40644" y="13175"/>
                  <a:pt x="40417" y="13243"/>
                </a:cubicBezTo>
                <a:cubicBezTo>
                  <a:pt x="27621" y="17071"/>
                  <a:pt x="21552" y="27408"/>
                  <a:pt x="16740" y="38927"/>
                </a:cubicBezTo>
                <a:cubicBezTo>
                  <a:pt x="16368" y="39805"/>
                  <a:pt x="16459" y="40886"/>
                  <a:pt x="16331" y="41878"/>
                </a:cubicBezTo>
                <a:cubicBezTo>
                  <a:pt x="17230" y="41484"/>
                  <a:pt x="18290" y="41281"/>
                  <a:pt x="19016" y="40667"/>
                </a:cubicBezTo>
                <a:cubicBezTo>
                  <a:pt x="26705" y="34084"/>
                  <a:pt x="34394" y="27499"/>
                  <a:pt x="41930" y="20734"/>
                </a:cubicBezTo>
                <a:cubicBezTo>
                  <a:pt x="43294" y="19516"/>
                  <a:pt x="44291" y="17579"/>
                  <a:pt x="44815" y="15777"/>
                </a:cubicBezTo>
                <a:cubicBezTo>
                  <a:pt x="44875" y="15566"/>
                  <a:pt x="44875" y="15324"/>
                  <a:pt x="44822" y="15074"/>
                </a:cubicBezTo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5" name="Shape 25"/>
          <p:cNvSpPr/>
          <p:nvPr/>
        </p:nvSpPr>
        <p:spPr>
          <a:xfrm>
            <a:off x="2789137" y="2827727"/>
            <a:ext cx="66677" cy="84559"/>
          </a:xfrm>
          <a:custGeom>
            <a:avLst/>
            <a:gdLst/>
            <a:ahLst/>
            <a:cxnLst/>
            <a:rect l="0" t="0" r="66677" b="84559"/>
            <a:pathLst>
              <a:path w="66677" h="84559" stroke="0">
                <a:moveTo>
                  <a:pt x="24194" y="21211"/>
                </a:moveTo>
                <a:cubicBezTo>
                  <a:pt x="24285" y="22158"/>
                  <a:pt x="24369" y="23112"/>
                  <a:pt x="24452" y="24057"/>
                </a:cubicBezTo>
                <a:cubicBezTo>
                  <a:pt x="25109" y="23309"/>
                  <a:pt x="25746" y="22513"/>
                  <a:pt x="26449" y="21794"/>
                </a:cubicBezTo>
                <a:cubicBezTo>
                  <a:pt x="32071" y="16089"/>
                  <a:pt x="37308" y="9868"/>
                  <a:pt x="43468" y="4843"/>
                </a:cubicBezTo>
                <a:cubicBezTo>
                  <a:pt x="49400" y="0"/>
                  <a:pt x="54933" y="984"/>
                  <a:pt x="60630" y="6205"/>
                </a:cubicBezTo>
                <a:cubicBezTo>
                  <a:pt x="62380" y="7811"/>
                  <a:pt x="64249" y="9345"/>
                  <a:pt x="65679" y="11215"/>
                </a:cubicBezTo>
                <a:cubicBezTo>
                  <a:pt x="66359" y="12108"/>
                  <a:pt x="66677" y="14016"/>
                  <a:pt x="66192" y="14915"/>
                </a:cubicBezTo>
                <a:cubicBezTo>
                  <a:pt x="65807" y="15636"/>
                  <a:pt x="63682" y="16134"/>
                  <a:pt x="62796" y="15711"/>
                </a:cubicBezTo>
                <a:cubicBezTo>
                  <a:pt x="55508" y="12170"/>
                  <a:pt x="50801" y="17216"/>
                  <a:pt x="46359" y="21289"/>
                </a:cubicBezTo>
                <a:cubicBezTo>
                  <a:pt x="34584" y="32102"/>
                  <a:pt x="25911" y="45435"/>
                  <a:pt x="18972" y="59867"/>
                </a:cubicBezTo>
                <a:cubicBezTo>
                  <a:pt x="16664" y="64656"/>
                  <a:pt x="15711" y="70127"/>
                  <a:pt x="14167" y="75295"/>
                </a:cubicBezTo>
                <a:cubicBezTo>
                  <a:pt x="14001" y="75871"/>
                  <a:pt x="14128" y="76545"/>
                  <a:pt x="13917" y="77082"/>
                </a:cubicBezTo>
                <a:cubicBezTo>
                  <a:pt x="12889" y="79708"/>
                  <a:pt x="13706" y="84559"/>
                  <a:pt x="10020" y="84151"/>
                </a:cubicBezTo>
                <a:cubicBezTo>
                  <a:pt x="7077" y="83825"/>
                  <a:pt x="3663" y="80865"/>
                  <a:pt x="1945" y="78112"/>
                </a:cubicBezTo>
                <a:cubicBezTo>
                  <a:pt x="387" y="75615"/>
                  <a:pt x="0" y="71657"/>
                  <a:pt x="523" y="68598"/>
                </a:cubicBezTo>
                <a:cubicBezTo>
                  <a:pt x="3067" y="53600"/>
                  <a:pt x="6093" y="38693"/>
                  <a:pt x="8923" y="23747"/>
                </a:cubicBezTo>
                <a:cubicBezTo>
                  <a:pt x="9709" y="19607"/>
                  <a:pt x="10467" y="15454"/>
                  <a:pt x="11095" y="11283"/>
                </a:cubicBezTo>
                <a:cubicBezTo>
                  <a:pt x="11527" y="8423"/>
                  <a:pt x="13175" y="7174"/>
                  <a:pt x="15794" y="6689"/>
                </a:cubicBezTo>
                <a:cubicBezTo>
                  <a:pt x="18693" y="6145"/>
                  <a:pt x="20963" y="7166"/>
                  <a:pt x="21939" y="9845"/>
                </a:cubicBezTo>
                <a:cubicBezTo>
                  <a:pt x="23263" y="13456"/>
                  <a:pt x="23421" y="20333"/>
                  <a:pt x="24452" y="24057"/>
                </a:cubicBezTo>
                <a:cubicBezTo>
                  <a:pt x="24148" y="24132"/>
                  <a:pt x="24489" y="21136"/>
                  <a:pt x="24194" y="21211"/>
                </a:cubicBezTo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6" name="Shape 26"/>
          <p:cNvSpPr/>
          <p:nvPr/>
        </p:nvSpPr>
        <p:spPr>
          <a:xfrm>
            <a:off x="2533330" y="2693869"/>
            <a:ext cx="224100" cy="222488"/>
          </a:xfrm>
          <a:custGeom>
            <a:avLst/>
            <a:gdLst/>
            <a:ahLst/>
            <a:cxnLst/>
            <a:rect l="0" t="0" r="224100" b="222488"/>
            <a:pathLst>
              <a:path w="224100" h="222488" stroke="0">
                <a:moveTo>
                  <a:pt x="172263" y="15641"/>
                </a:moveTo>
                <a:cubicBezTo>
                  <a:pt x="154791" y="5258"/>
                  <a:pt x="135100" y="0"/>
                  <a:pt x="113731" y="0"/>
                </a:cubicBezTo>
                <a:cubicBezTo>
                  <a:pt x="108546" y="0"/>
                  <a:pt x="103173" y="310"/>
                  <a:pt x="97762" y="914"/>
                </a:cubicBezTo>
                <a:cubicBezTo>
                  <a:pt x="66547" y="4434"/>
                  <a:pt x="41438" y="17761"/>
                  <a:pt x="23133" y="40516"/>
                </a:cubicBezTo>
                <a:cubicBezTo>
                  <a:pt x="7536" y="59902"/>
                  <a:pt x="0" y="83120"/>
                  <a:pt x="151" y="111239"/>
                </a:cubicBezTo>
                <a:cubicBezTo>
                  <a:pt x="0" y="139368"/>
                  <a:pt x="7536" y="162584"/>
                  <a:pt x="23133" y="181965"/>
                </a:cubicBezTo>
                <a:cubicBezTo>
                  <a:pt x="41438" y="204727"/>
                  <a:pt x="66547" y="218046"/>
                  <a:pt x="97762" y="221574"/>
                </a:cubicBezTo>
                <a:cubicBezTo>
                  <a:pt x="103173" y="222178"/>
                  <a:pt x="108546" y="222488"/>
                  <a:pt x="113731" y="222488"/>
                </a:cubicBezTo>
                <a:cubicBezTo>
                  <a:pt x="135100" y="222488"/>
                  <a:pt x="154791" y="217229"/>
                  <a:pt x="172263" y="206847"/>
                </a:cubicBezTo>
                <a:cubicBezTo>
                  <a:pt x="206498" y="186490"/>
                  <a:pt x="223912" y="154351"/>
                  <a:pt x="224100" y="111239"/>
                </a:cubicBezTo>
                <a:cubicBezTo>
                  <a:pt x="223912" y="68135"/>
                  <a:pt x="206498" y="35998"/>
                  <a:pt x="172263" y="15641"/>
                </a:cubicBezTo>
                <a:moveTo>
                  <a:pt x="152338" y="153700"/>
                </a:moveTo>
                <a:cubicBezTo>
                  <a:pt x="142418" y="164045"/>
                  <a:pt x="128653" y="169516"/>
                  <a:pt x="112504" y="169539"/>
                </a:cubicBezTo>
                <a:lnTo>
                  <a:pt x="112413" y="169539"/>
                </a:lnTo>
                <a:cubicBezTo>
                  <a:pt x="95803" y="169539"/>
                  <a:pt x="81787" y="164272"/>
                  <a:pt x="71890" y="154314"/>
                </a:cubicBezTo>
                <a:cubicBezTo>
                  <a:pt x="62037" y="144401"/>
                  <a:pt x="56665" y="130281"/>
                  <a:pt x="56361" y="113473"/>
                </a:cubicBezTo>
                <a:cubicBezTo>
                  <a:pt x="56353" y="112715"/>
                  <a:pt x="56361" y="111981"/>
                  <a:pt x="56361" y="111239"/>
                </a:cubicBezTo>
                <a:cubicBezTo>
                  <a:pt x="56361" y="110507"/>
                  <a:pt x="56353" y="109765"/>
                  <a:pt x="56361" y="109023"/>
                </a:cubicBezTo>
                <a:cubicBezTo>
                  <a:pt x="56665" y="92208"/>
                  <a:pt x="62037" y="78087"/>
                  <a:pt x="71890" y="68174"/>
                </a:cubicBezTo>
                <a:cubicBezTo>
                  <a:pt x="81787" y="58215"/>
                  <a:pt x="95803" y="52949"/>
                  <a:pt x="112413" y="52949"/>
                </a:cubicBezTo>
                <a:lnTo>
                  <a:pt x="112504" y="52949"/>
                </a:lnTo>
                <a:cubicBezTo>
                  <a:pt x="128653" y="52970"/>
                  <a:pt x="142418" y="58443"/>
                  <a:pt x="152338" y="68778"/>
                </a:cubicBezTo>
                <a:cubicBezTo>
                  <a:pt x="162321" y="79185"/>
                  <a:pt x="167739" y="94213"/>
                  <a:pt x="167724" y="111239"/>
                </a:cubicBezTo>
                <a:cubicBezTo>
                  <a:pt x="167739" y="128268"/>
                  <a:pt x="162321" y="143303"/>
                  <a:pt x="152338" y="153700"/>
                </a:cubicBezTo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7" name="object 2" descr="$PPTXTitle">
            <a:extLst>
              <a:ext uri="{FF2B5EF4-FFF2-40B4-BE49-F238E27FC236}">
                <a16:creationId xmlns:a16="http://schemas.microsoft.com/office/drawing/2014/main" id="{111EC47D-C1E2-4E3E-A833-E3A19BA1C54A}"/>
              </a:ext>
            </a:extLst>
          </p:cNvPr>
          <p:cNvSpPr txBox="1">
            <a:spLocks/>
          </p:cNvSpPr>
          <p:nvPr/>
        </p:nvSpPr>
        <p:spPr>
          <a:xfrm>
            <a:off x="1966003" y="1302539"/>
            <a:ext cx="2042075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ru-RU" sz="1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Спасибо за внимание!</a:t>
            </a:r>
            <a:endParaRPr lang="en-US" sz="14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330</Words>
  <Application>Microsoft Office PowerPoint</Application>
  <PresentationFormat>Произвольный</PresentationFormat>
  <Paragraphs>56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Calibri</vt:lpstr>
      <vt:lpstr>Arial</vt:lpstr>
      <vt:lpstr>Golos Text</vt:lpstr>
      <vt:lpstr>Tahoma</vt:lpstr>
      <vt:lpstr>Golos Text DemiBold</vt:lpstr>
      <vt:lpstr>Office Theme</vt:lpstr>
      <vt:lpstr>Презентация PowerPoint</vt:lpstr>
      <vt:lpstr>Презентация PowerPoint</vt:lpstr>
      <vt:lpstr>Цель и задачи проекта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Fitts</dc:creator>
  <cp:lastModifiedBy>Артём Ким</cp:lastModifiedBy>
  <cp:revision>6</cp:revision>
  <dcterms:modified xsi:type="dcterms:W3CDTF">2026-10-08T23:28:21Z</dcterms:modified>
</cp:coreProperties>
</file>